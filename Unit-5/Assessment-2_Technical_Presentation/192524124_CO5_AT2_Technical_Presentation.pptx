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9784080" y="731520"/>
            <a:ext cx="1371600" cy="137160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10607040" y="1554480"/>
            <a:ext cx="731520" cy="731520"/>
          </a:xfrm>
          <a:prstGeom prst="ellipse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9144000" y="1828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0241280" y="4480560"/>
            <a:ext cx="1645920" cy="1645920"/>
          </a:xfrm>
          <a:prstGeom prst="ellipse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602195" y="2115662"/>
            <a:ext cx="8778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Edge Intelligence: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BCD4"/>
                </a:solidFill>
                <a:latin typeface="Play"/>
                <a:ea typeface="Play"/>
                <a:cs typeface="Play"/>
                <a:sym typeface="Play"/>
              </a:rPr>
              <a:t>AI Without the Cloud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2173853" y="3423353"/>
            <a:ext cx="777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2E8F0"/>
                </a:solidFill>
              </a:rPr>
              <a:t>CO5 ASSESSMENT TOOL 2 TECHNICAL PRESENTATION </a:t>
            </a:r>
            <a:br>
              <a:rPr b="0" i="0" lang="en-US" sz="17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• Unit V — Agents, Case Studies &amp; Real-Time Projects</a:t>
            </a:r>
            <a:endParaRPr sz="1200"/>
          </a:p>
        </p:txBody>
      </p:sp>
      <p:sp>
        <p:nvSpPr>
          <p:cNvPr id="94" name="Google Shape;94;p15"/>
          <p:cNvSpPr/>
          <p:nvPr/>
        </p:nvSpPr>
        <p:spPr>
          <a:xfrm>
            <a:off x="4437015" y="4264502"/>
            <a:ext cx="3246000" cy="502800"/>
          </a:xfrm>
          <a:prstGeom prst="roundRect">
            <a:avLst>
              <a:gd fmla="val 16667" name="adj"/>
            </a:avLst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528245" y="4392774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LOW LATENCY • PRIVACY • REAL-TIME AI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286725" y="5471525"/>
            <a:ext cx="564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2E8F0"/>
                </a:solidFill>
              </a:rPr>
              <a:t>Guided by      :</a:t>
            </a:r>
            <a:r>
              <a:rPr lang="en-US" sz="1700">
                <a:solidFill>
                  <a:srgbClr val="E2E8F0"/>
                </a:solidFill>
              </a:rPr>
              <a:t> Dr. Nagarajan Babu </a:t>
            </a:r>
            <a:r>
              <a:rPr lang="en-US" sz="1500">
                <a:solidFill>
                  <a:srgbClr val="E2E8F0"/>
                </a:solidFill>
              </a:rPr>
              <a:t>• </a:t>
            </a:r>
            <a:r>
              <a:rPr lang="en-US" sz="1500">
                <a:solidFill>
                  <a:srgbClr val="E2E8F0"/>
                </a:solidFill>
              </a:rPr>
              <a:t>Professor</a:t>
            </a:r>
            <a:br>
              <a:rPr lang="en-US" sz="1700">
                <a:solidFill>
                  <a:srgbClr val="E2E8F0"/>
                </a:solidFill>
              </a:rPr>
            </a:br>
            <a:r>
              <a:rPr b="1" lang="en-US" sz="1700">
                <a:solidFill>
                  <a:srgbClr val="E2E8F0"/>
                </a:solidFill>
              </a:rPr>
              <a:t>Presented by : </a:t>
            </a:r>
            <a:r>
              <a:rPr lang="en-US" sz="1700">
                <a:solidFill>
                  <a:srgbClr val="E2E8F0"/>
                </a:solidFill>
              </a:rPr>
              <a:t>Priyanka.G [192524124] </a:t>
            </a:r>
            <a:r>
              <a:rPr lang="en-US" sz="1500">
                <a:solidFill>
                  <a:srgbClr val="E2E8F0"/>
                </a:solidFill>
              </a:rPr>
              <a:t>• B.Tech AI&amp;DS</a:t>
            </a:r>
            <a:endParaRPr sz="1200"/>
          </a:p>
        </p:txBody>
      </p:sp>
      <p:sp>
        <p:nvSpPr>
          <p:cNvPr id="98" name="Google Shape;98;p15"/>
          <p:cNvSpPr txBox="1"/>
          <p:nvPr/>
        </p:nvSpPr>
        <p:spPr>
          <a:xfrm>
            <a:off x="2405900" y="1669263"/>
            <a:ext cx="717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FFFF"/>
                </a:solidFill>
              </a:rPr>
              <a:t>CSA1714 </a:t>
            </a:r>
            <a:r>
              <a:rPr b="1" lang="en-US" sz="1700">
                <a:solidFill>
                  <a:srgbClr val="00FFFF"/>
                </a:solidFill>
              </a:rPr>
              <a:t>ARTIFICIAL</a:t>
            </a:r>
            <a:r>
              <a:rPr b="1" lang="en-US" sz="1700">
                <a:solidFill>
                  <a:srgbClr val="00FFFF"/>
                </a:solidFill>
              </a:rPr>
              <a:t> </a:t>
            </a:r>
            <a:r>
              <a:rPr b="1" lang="en-US" sz="1700">
                <a:solidFill>
                  <a:srgbClr val="00FFFF"/>
                </a:solidFill>
              </a:rPr>
              <a:t>INTELLIGENCE</a:t>
            </a:r>
            <a:endParaRPr b="1" sz="1200">
              <a:solidFill>
                <a:srgbClr val="00FFFF"/>
              </a:solidFill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136" y="271048"/>
            <a:ext cx="7922426" cy="10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Presentation Objectives</a:t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850392" y="165506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1417320" y="1536192"/>
            <a:ext cx="9509760" cy="62179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417320" y="1536192"/>
            <a:ext cx="73152" cy="621792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618488" y="1700784"/>
            <a:ext cx="9162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01 • Understand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 flipH="1" rot="10800000">
            <a:off x="1618488" y="2020825"/>
            <a:ext cx="9144000" cy="1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Define Edge AI and distinguish it from cloud-based AI.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850392" y="256946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1417320" y="2450592"/>
            <a:ext cx="9509760" cy="62179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417320" y="2450592"/>
            <a:ext cx="73152" cy="621792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1618488" y="2615184"/>
            <a:ext cx="9162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02 • Architecture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 flipH="1" rot="10800000">
            <a:off x="1618488" y="2935225"/>
            <a:ext cx="9144000" cy="1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Explain the end-to-end edge intelligence pipeline.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850392" y="348386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417320" y="3364992"/>
            <a:ext cx="9509760" cy="62179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417320" y="3364992"/>
            <a:ext cx="73152" cy="621792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618488" y="3529584"/>
            <a:ext cx="9162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03 • Techniques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 flipH="1" rot="10800000">
            <a:off x="1618488" y="3849625"/>
            <a:ext cx="9144000" cy="1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Introduce inference optimization, quantization and model deployment.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50392" y="439826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417320" y="4279392"/>
            <a:ext cx="9509760" cy="62179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1417320" y="4279392"/>
            <a:ext cx="73152" cy="621792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618488" y="4443984"/>
            <a:ext cx="9162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04 • Applications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 flipH="1" rot="10800000">
            <a:off x="1618488" y="4764025"/>
            <a:ext cx="9144000" cy="1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Connect Edge AI with real-time IoT, healthcare, smart cities and industry.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50392" y="531266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1417320" y="5193792"/>
            <a:ext cx="9509760" cy="62179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417320" y="5193792"/>
            <a:ext cx="73152" cy="621792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618488" y="5358384"/>
            <a:ext cx="9162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05 • Engineering View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 flipH="1" rot="10800000">
            <a:off x="1618488" y="5678425"/>
            <a:ext cx="9144000" cy="1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Evaluate latency, privacy, energy, accuracy and security trade-offs.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What Is Edge Intelligence?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AI inference and, in some systems, learning performed close to where data is generated.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85800" y="1600200"/>
            <a:ext cx="521208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85800" y="1600200"/>
            <a:ext cx="73152" cy="182880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86968" y="1764792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86968" y="2212848"/>
            <a:ext cx="484632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Move useful computation from a distant centralized cloud toward devices, gateways and nearby edge servers. This reduces dependence on continuous cloud connectivity.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6217920" y="1600200"/>
            <a:ext cx="521208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217920" y="1600200"/>
            <a:ext cx="73152" cy="182880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419088" y="1764792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419088" y="2212848"/>
            <a:ext cx="484632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Edge systems are designed around real-time response, constrained compute, energy efficiency, privacy and resilient operation.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914400" y="4160520"/>
            <a:ext cx="2011680" cy="7772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87552" y="4233672"/>
            <a:ext cx="186537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Sensors / Cameras</a:t>
            </a: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2926080" y="4544568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7"/>
          <p:cNvSpPr/>
          <p:nvPr/>
        </p:nvSpPr>
        <p:spPr>
          <a:xfrm>
            <a:off x="3657600" y="4160520"/>
            <a:ext cx="2103120" cy="7772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730752" y="4233672"/>
            <a:ext cx="1956815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Edge Device</a:t>
            </a:r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5760720" y="4544568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1" name="Google Shape;161;p17"/>
          <p:cNvSpPr/>
          <p:nvPr/>
        </p:nvSpPr>
        <p:spPr>
          <a:xfrm>
            <a:off x="6492240" y="4160520"/>
            <a:ext cx="2103120" cy="7772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565392" y="4233672"/>
            <a:ext cx="1956815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AI Inference</a:t>
            </a:r>
            <a:endParaRPr/>
          </a:p>
        </p:txBody>
      </p:sp>
      <p:cxnSp>
        <p:nvCxnSpPr>
          <p:cNvPr id="163" name="Google Shape;163;p17"/>
          <p:cNvCxnSpPr/>
          <p:nvPr/>
        </p:nvCxnSpPr>
        <p:spPr>
          <a:xfrm>
            <a:off x="8595360" y="4544568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4" name="Google Shape;164;p17"/>
          <p:cNvSpPr/>
          <p:nvPr/>
        </p:nvSpPr>
        <p:spPr>
          <a:xfrm>
            <a:off x="9326880" y="4160520"/>
            <a:ext cx="1828800" cy="7772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9400032" y="4233672"/>
            <a:ext cx="16824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Cloud AI vs. Edge AI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engineering choice is not 'cloud or edge'—many practical systems use both.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31519" y="16733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Dimension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2880360" y="1554480"/>
            <a:ext cx="42976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2971800" y="167335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Cloud-Centric AI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452360" y="1554480"/>
            <a:ext cx="40690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543800" y="167335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Edge AI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640080" y="2057400"/>
            <a:ext cx="20116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731519" y="2167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2880360" y="2057400"/>
            <a:ext cx="42976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2971800" y="216712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Network round-trip may add delay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7452360" y="2057400"/>
            <a:ext cx="40690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7543800" y="216712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Local inference can respond faster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640080" y="2697480"/>
            <a:ext cx="20116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731519" y="280720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2880360" y="2697480"/>
            <a:ext cx="42976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2971800" y="280720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Raw/processed data sent upstream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452360" y="2697480"/>
            <a:ext cx="40690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7543800" y="28072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Less data needs to leave the device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0080" y="3337560"/>
            <a:ext cx="20116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731519" y="344728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2880360" y="3337560"/>
            <a:ext cx="42976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2971800" y="344728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Data often leaves local environment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7452360" y="3337560"/>
            <a:ext cx="40690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7543800" y="344728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Sensitive data can remain local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640080" y="3977639"/>
            <a:ext cx="20116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731519" y="40873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Compute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2880360" y="3977639"/>
            <a:ext cx="42976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2971800" y="408736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Large centralized resources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7452360" y="3977639"/>
            <a:ext cx="40690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7543800" y="408736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Limited CPU/GPU/NPU resources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640080" y="4617720"/>
            <a:ext cx="20116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731519" y="47274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Availability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2880360" y="4617720"/>
            <a:ext cx="42976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2971800" y="472744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Depends on network/service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7452360" y="4617720"/>
            <a:ext cx="4069080" cy="6400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7543800" y="472744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Can continue during weak connectivity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40080" y="5257800"/>
            <a:ext cx="20116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731519" y="53675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2880360" y="5257800"/>
            <a:ext cx="42976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2971800" y="536752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Device communication + cloud compute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7452360" y="5257800"/>
            <a:ext cx="4069080" cy="6400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7543800" y="536752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Local compute must be energy-aware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id="219" name="Google Shape;2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Reference Architecture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practical Edge AI stack from physical data to intelligent action.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1051560" y="1508760"/>
            <a:ext cx="10058400" cy="65836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1280160" y="16002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88E5"/>
                </a:solidFill>
                <a:latin typeface="Arial"/>
                <a:ea typeface="Arial"/>
                <a:cs typeface="Arial"/>
                <a:sym typeface="Arial"/>
              </a:rPr>
              <a:t>PHYSICAL LAYER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3520440" y="160020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Sensors • Cameras • Microphones • Machines</a:t>
            </a:r>
            <a:endParaRPr/>
          </a:p>
        </p:txBody>
      </p:sp>
      <p:cxnSp>
        <p:nvCxnSpPr>
          <p:cNvPr id="231" name="Google Shape;231;p19"/>
          <p:cNvCxnSpPr/>
          <p:nvPr/>
        </p:nvCxnSpPr>
        <p:spPr>
          <a:xfrm>
            <a:off x="6080760" y="2167128"/>
            <a:ext cx="0" cy="192024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2" name="Google Shape;232;p19"/>
          <p:cNvSpPr/>
          <p:nvPr/>
        </p:nvSpPr>
        <p:spPr>
          <a:xfrm>
            <a:off x="1051560" y="2377439"/>
            <a:ext cx="10058400" cy="65836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1280160" y="2468879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EDGE DEVICE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3520440" y="2468879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MCU / CPU / GPU / NPU • Local storage</a:t>
            </a:r>
            <a:endParaRPr/>
          </a:p>
        </p:txBody>
      </p:sp>
      <p:cxnSp>
        <p:nvCxnSpPr>
          <p:cNvPr id="235" name="Google Shape;235;p19"/>
          <p:cNvCxnSpPr/>
          <p:nvPr/>
        </p:nvCxnSpPr>
        <p:spPr>
          <a:xfrm>
            <a:off x="6080760" y="3035807"/>
            <a:ext cx="0" cy="192025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6" name="Google Shape;236;p19"/>
          <p:cNvSpPr/>
          <p:nvPr/>
        </p:nvSpPr>
        <p:spPr>
          <a:xfrm>
            <a:off x="1051560" y="3246120"/>
            <a:ext cx="10058400" cy="65836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1280160" y="3337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AI RUNTIME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3520440" y="333756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Pre-processing • Model inference • Post-processing</a:t>
            </a:r>
            <a:endParaRPr/>
          </a:p>
        </p:txBody>
      </p:sp>
      <p:cxnSp>
        <p:nvCxnSpPr>
          <p:cNvPr id="239" name="Google Shape;239;p19"/>
          <p:cNvCxnSpPr/>
          <p:nvPr/>
        </p:nvCxnSpPr>
        <p:spPr>
          <a:xfrm>
            <a:off x="6080760" y="3904487"/>
            <a:ext cx="0" cy="192024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0" name="Google Shape;240;p19"/>
          <p:cNvSpPr/>
          <p:nvPr/>
        </p:nvSpPr>
        <p:spPr>
          <a:xfrm>
            <a:off x="1051560" y="4114800"/>
            <a:ext cx="10058400" cy="65836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1280160" y="42062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EDGE SERVICES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3520440" y="420624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API • Monitoring • Security • Local database</a:t>
            </a:r>
            <a:endParaRPr/>
          </a:p>
        </p:txBody>
      </p:sp>
      <p:cxnSp>
        <p:nvCxnSpPr>
          <p:cNvPr id="243" name="Google Shape;243;p19"/>
          <p:cNvCxnSpPr/>
          <p:nvPr/>
        </p:nvCxnSpPr>
        <p:spPr>
          <a:xfrm>
            <a:off x="6080760" y="4773168"/>
            <a:ext cx="0" cy="192024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19"/>
          <p:cNvSpPr/>
          <p:nvPr/>
        </p:nvSpPr>
        <p:spPr>
          <a:xfrm>
            <a:off x="1051560" y="4983479"/>
            <a:ext cx="10058400" cy="65836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280160" y="5074919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CLOUD / CONTROL PLANE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3520440" y="5074919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Training • Fleet management • Global analytics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1097280" y="598932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Key principle: send models/data to the edge only when the performance, privacy or reliability benefit justifies the resource cost.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How an Edge AI System Works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real-time inference loop.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502920" y="196596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612648" y="21762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8E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12648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Sense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12648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Capture data</a:t>
            </a:r>
            <a:endParaRPr/>
          </a:p>
        </p:txBody>
      </p:sp>
      <p:cxnSp>
        <p:nvCxnSpPr>
          <p:cNvPr id="262" name="Google Shape;262;p20"/>
          <p:cNvCxnSpPr/>
          <p:nvPr/>
        </p:nvCxnSpPr>
        <p:spPr>
          <a:xfrm>
            <a:off x="2103120" y="2880360"/>
            <a:ext cx="274319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3" name="Google Shape;263;p20"/>
          <p:cNvSpPr/>
          <p:nvPr/>
        </p:nvSpPr>
        <p:spPr>
          <a:xfrm>
            <a:off x="2441448" y="196596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2551176" y="21762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2551176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2551176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Filter / normalize</a:t>
            </a:r>
            <a:endParaRPr/>
          </a:p>
        </p:txBody>
      </p:sp>
      <p:cxnSp>
        <p:nvCxnSpPr>
          <p:cNvPr id="267" name="Google Shape;267;p20"/>
          <p:cNvCxnSpPr/>
          <p:nvPr/>
        </p:nvCxnSpPr>
        <p:spPr>
          <a:xfrm>
            <a:off x="4041648" y="288036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20"/>
          <p:cNvSpPr/>
          <p:nvPr/>
        </p:nvSpPr>
        <p:spPr>
          <a:xfrm>
            <a:off x="4379976" y="196596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489704" y="21762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4489704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Infer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4489704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Run ML model</a:t>
            </a:r>
            <a:endParaRPr/>
          </a:p>
        </p:txBody>
      </p:sp>
      <p:cxnSp>
        <p:nvCxnSpPr>
          <p:cNvPr id="272" name="Google Shape;272;p20"/>
          <p:cNvCxnSpPr/>
          <p:nvPr/>
        </p:nvCxnSpPr>
        <p:spPr>
          <a:xfrm>
            <a:off x="5980176" y="288036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3" name="Google Shape;273;p20"/>
          <p:cNvSpPr/>
          <p:nvPr/>
        </p:nvSpPr>
        <p:spPr>
          <a:xfrm>
            <a:off x="6318504" y="196596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6428232" y="21762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428232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428232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Apply threshold / policy</a:t>
            </a:r>
            <a:endParaRPr/>
          </a:p>
        </p:txBody>
      </p:sp>
      <p:cxnSp>
        <p:nvCxnSpPr>
          <p:cNvPr id="277" name="Google Shape;277;p20"/>
          <p:cNvCxnSpPr/>
          <p:nvPr/>
        </p:nvCxnSpPr>
        <p:spPr>
          <a:xfrm>
            <a:off x="7918704" y="288036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8" name="Google Shape;278;p20"/>
          <p:cNvSpPr/>
          <p:nvPr/>
        </p:nvSpPr>
        <p:spPr>
          <a:xfrm>
            <a:off x="8257032" y="196596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8366760" y="21762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836676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8366760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Trigger device response</a:t>
            </a:r>
            <a:endParaRPr/>
          </a:p>
        </p:txBody>
      </p:sp>
      <p:cxnSp>
        <p:nvCxnSpPr>
          <p:cNvPr id="282" name="Google Shape;282;p20"/>
          <p:cNvCxnSpPr/>
          <p:nvPr/>
        </p:nvCxnSpPr>
        <p:spPr>
          <a:xfrm>
            <a:off x="9857232" y="288036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20"/>
          <p:cNvSpPr/>
          <p:nvPr/>
        </p:nvSpPr>
        <p:spPr>
          <a:xfrm>
            <a:off x="10195560" y="1965960"/>
            <a:ext cx="1600200" cy="1828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254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0305288" y="21762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10305288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0305288" y="3108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Log &amp; update centrally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914400" y="4343400"/>
            <a:ext cx="10241280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914400" y="4343400"/>
            <a:ext cx="73152" cy="96012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1115568" y="4507992"/>
            <a:ext cx="989380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1115568" y="4956048"/>
            <a:ext cx="9875519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 smart camera detects an unsafe event locally, decides whether confidence is high enough, then triggers an alarm—without uploading the full video stream.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pic>
        <p:nvPicPr>
          <p:cNvPr id="292" name="Google Shape;2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Making AI Small Enough for the Edge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Model optimization balances accuracy, latency, memory and energy.</a:t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640080" y="1600200"/>
            <a:ext cx="34290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40080" y="1600200"/>
            <a:ext cx="73152" cy="169164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841247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841247" y="2212848"/>
            <a:ext cx="30632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Represent weights/activations with lower precision such as INT8 to reduce memory and compute.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434840" y="1600200"/>
            <a:ext cx="34290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434840" y="1600200"/>
            <a:ext cx="73152" cy="169164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63600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Pruning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4636008" y="2212848"/>
            <a:ext cx="30632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Remove low-value parameters or connections to reduce model size and operations.</a:t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8229600" y="1600200"/>
            <a:ext cx="34290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8229600" y="160020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843076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Knowledge Distillation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8430768" y="2212848"/>
            <a:ext cx="30632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Train a smaller student model to reproduce useful behavior from a larger teacher model.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640080" y="3611880"/>
            <a:ext cx="34290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640080" y="3611880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841247" y="377647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Hardware Acceleration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841247" y="4224528"/>
            <a:ext cx="30632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Use GPU/NPU/TPU/AI accelerators to execute supported operations efficiently.</a:t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4434840" y="3611880"/>
            <a:ext cx="34290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4434840" y="3611880"/>
            <a:ext cx="73152" cy="169164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4636008" y="377647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Early Exit / Cascades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4636008" y="4224528"/>
            <a:ext cx="30632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Use a cheap model first; invoke a heavier model only for uncertain cases.</a:t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8229600" y="3611880"/>
            <a:ext cx="34290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8229600" y="3611880"/>
            <a:ext cx="73152" cy="16916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8430768" y="377647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Compiler Optimization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8430768" y="4224528"/>
            <a:ext cx="30632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Convert models into hardware-friendly runtimes and optimized kernels.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pic>
        <p:nvPicPr>
          <p:cNvPr id="326" name="Google Shape;3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Edge AI as an Intelligent Agent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Connection to Unit V: perception → reasoning → action under resource constraints.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731520" y="2148840"/>
            <a:ext cx="1828800" cy="822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804672" y="2221992"/>
            <a:ext cx="168249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b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/>
          </a:p>
        </p:txBody>
      </p:sp>
      <p:cxnSp>
        <p:nvCxnSpPr>
          <p:cNvPr id="337" name="Google Shape;337;p22"/>
          <p:cNvCxnSpPr/>
          <p:nvPr/>
        </p:nvCxnSpPr>
        <p:spPr>
          <a:xfrm>
            <a:off x="2560320" y="256032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8" name="Google Shape;338;p22"/>
          <p:cNvSpPr/>
          <p:nvPr/>
        </p:nvSpPr>
        <p:spPr>
          <a:xfrm>
            <a:off x="3337560" y="2148840"/>
            <a:ext cx="1828800" cy="822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3410712" y="2221992"/>
            <a:ext cx="168249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Local State</a:t>
            </a:r>
            <a:b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&amp; Context</a:t>
            </a:r>
            <a:endParaRPr/>
          </a:p>
        </p:txBody>
      </p:sp>
      <p:cxnSp>
        <p:nvCxnSpPr>
          <p:cNvPr id="340" name="Google Shape;340;p22"/>
          <p:cNvCxnSpPr/>
          <p:nvPr/>
        </p:nvCxnSpPr>
        <p:spPr>
          <a:xfrm>
            <a:off x="5166360" y="256032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1" name="Google Shape;341;p22"/>
          <p:cNvSpPr/>
          <p:nvPr/>
        </p:nvSpPr>
        <p:spPr>
          <a:xfrm>
            <a:off x="5943600" y="2148840"/>
            <a:ext cx="1828800" cy="822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6016752" y="2221992"/>
            <a:ext cx="168249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AI Reasoning</a:t>
            </a:r>
            <a:b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/ Inference</a:t>
            </a:r>
            <a:endParaRPr/>
          </a:p>
        </p:txBody>
      </p:sp>
      <p:cxnSp>
        <p:nvCxnSpPr>
          <p:cNvPr id="343" name="Google Shape;343;p22"/>
          <p:cNvCxnSpPr/>
          <p:nvPr/>
        </p:nvCxnSpPr>
        <p:spPr>
          <a:xfrm>
            <a:off x="7772400" y="256032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4" name="Google Shape;344;p22"/>
          <p:cNvSpPr/>
          <p:nvPr/>
        </p:nvSpPr>
        <p:spPr>
          <a:xfrm>
            <a:off x="8549640" y="2148840"/>
            <a:ext cx="1828800" cy="822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8622792" y="2221992"/>
            <a:ext cx="168249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b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914400" y="3794760"/>
            <a:ext cx="315468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914400" y="3794760"/>
            <a:ext cx="73152" cy="132588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1115568" y="3959352"/>
            <a:ext cx="2807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Autonomy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1115568" y="4407408"/>
            <a:ext cx="2788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Makes local decisions without a cloud round trip.</a:t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4526280" y="3794760"/>
            <a:ext cx="315468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526280" y="37947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4727448" y="3959352"/>
            <a:ext cx="2807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Adaptation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4727448" y="4407408"/>
            <a:ext cx="2788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Uses current context and sensor feedback to select actions.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8138160" y="3794760"/>
            <a:ext cx="3154680" cy="1325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8138160" y="379476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8339328" y="3959352"/>
            <a:ext cx="2807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Coordination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8339328" y="4407408"/>
            <a:ext cx="2788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Can exchange summaries/models with nearby or cloud agents.</a:t>
            </a:r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Real-World Applications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640080" y="16002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640080" y="160020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841247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Smart Healthcare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841247" y="22128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Wearables, patient monitoring, privacy-aware analytics</a:t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4434840" y="16002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434840" y="1600200"/>
            <a:ext cx="73152" cy="173736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463600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Smart Cities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4636008" y="22128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Traffic cameras, pedestrian safety, environmental sensing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8229600" y="16002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8229600" y="160020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843076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Industry 4.0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8430768" y="22128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Predictive maintenance, quality inspection, robotics</a:t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640080" y="36576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640080" y="365760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 txBox="1"/>
          <p:nvPr/>
        </p:nvSpPr>
        <p:spPr>
          <a:xfrm>
            <a:off x="841247" y="3822191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Autonomous Systems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841247" y="42702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Drones, vehicles, navigation and obstacle detection</a:t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4434840" y="36576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4434840" y="3657600"/>
            <a:ext cx="73152" cy="173736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4636008" y="3822191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Retail &amp; Security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4636008" y="42702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On-device vision, anomaly detection, access control</a:t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8229600" y="36576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8229600" y="3657600"/>
            <a:ext cx="73152" cy="17373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8430768" y="3822191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Agriculture</a:t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8430768" y="42702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Crop monitoring, disease detection, irrigation decisions</a:t>
            </a:r>
            <a:endParaRPr/>
          </a:p>
        </p:txBody>
      </p:sp>
      <p:sp>
        <p:nvSpPr>
          <p:cNvPr id="391" name="Google Shape;391;p23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pic>
        <p:nvPicPr>
          <p:cNvPr id="392" name="Google Shape;3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Mini Case Study: Smart Camera at the Edge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Illustrative engineering design for real-time safety monitoring.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502920" y="1828800"/>
            <a:ext cx="182880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576072" y="1901952"/>
            <a:ext cx="1682496" cy="90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b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1080p stream</a:t>
            </a:r>
            <a:endParaRPr/>
          </a:p>
        </p:txBody>
      </p:sp>
      <p:cxnSp>
        <p:nvCxnSpPr>
          <p:cNvPr id="403" name="Google Shape;403;p24"/>
          <p:cNvCxnSpPr/>
          <p:nvPr/>
        </p:nvCxnSpPr>
        <p:spPr>
          <a:xfrm>
            <a:off x="2331720" y="2359152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4" name="Google Shape;404;p24"/>
          <p:cNvSpPr/>
          <p:nvPr/>
        </p:nvSpPr>
        <p:spPr>
          <a:xfrm>
            <a:off x="2834639" y="1828800"/>
            <a:ext cx="182880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2907791" y="1901952"/>
            <a:ext cx="1682496" cy="90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Pre-process</a:t>
            </a:r>
            <a:b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Resize / normalize</a:t>
            </a:r>
            <a:endParaRPr/>
          </a:p>
        </p:txBody>
      </p:sp>
      <p:cxnSp>
        <p:nvCxnSpPr>
          <p:cNvPr id="406" name="Google Shape;406;p24"/>
          <p:cNvCxnSpPr/>
          <p:nvPr/>
        </p:nvCxnSpPr>
        <p:spPr>
          <a:xfrm>
            <a:off x="4663440" y="2359152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7" name="Google Shape;407;p24"/>
          <p:cNvSpPr/>
          <p:nvPr/>
        </p:nvSpPr>
        <p:spPr>
          <a:xfrm>
            <a:off x="5166359" y="1828800"/>
            <a:ext cx="182880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 txBox="1"/>
          <p:nvPr/>
        </p:nvSpPr>
        <p:spPr>
          <a:xfrm>
            <a:off x="5239512" y="1901952"/>
            <a:ext cx="1682496" cy="90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Tiny CNN</a:t>
            </a:r>
            <a:b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Object detection</a:t>
            </a:r>
            <a:endParaRPr/>
          </a:p>
        </p:txBody>
      </p:sp>
      <p:cxnSp>
        <p:nvCxnSpPr>
          <p:cNvPr id="409" name="Google Shape;409;p24"/>
          <p:cNvCxnSpPr/>
          <p:nvPr/>
        </p:nvCxnSpPr>
        <p:spPr>
          <a:xfrm>
            <a:off x="6995159" y="2359152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0" name="Google Shape;410;p24"/>
          <p:cNvSpPr/>
          <p:nvPr/>
        </p:nvSpPr>
        <p:spPr>
          <a:xfrm>
            <a:off x="7498079" y="1828800"/>
            <a:ext cx="182880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 txBox="1"/>
          <p:nvPr/>
        </p:nvSpPr>
        <p:spPr>
          <a:xfrm>
            <a:off x="7571231" y="1901952"/>
            <a:ext cx="1682496" cy="90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b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Confidence &gt; τ</a:t>
            </a:r>
            <a:endParaRPr/>
          </a:p>
        </p:txBody>
      </p:sp>
      <p:cxnSp>
        <p:nvCxnSpPr>
          <p:cNvPr id="412" name="Google Shape;412;p24"/>
          <p:cNvCxnSpPr/>
          <p:nvPr/>
        </p:nvCxnSpPr>
        <p:spPr>
          <a:xfrm>
            <a:off x="9326880" y="2359152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3" name="Google Shape;413;p24"/>
          <p:cNvSpPr/>
          <p:nvPr/>
        </p:nvSpPr>
        <p:spPr>
          <a:xfrm>
            <a:off x="9829800" y="1828800"/>
            <a:ext cx="182880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9902952" y="1901952"/>
            <a:ext cx="1682496" cy="90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Alarm</a:t>
            </a:r>
            <a:b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Local actuator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731520" y="3794760"/>
            <a:ext cx="3383280" cy="12344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31520" y="3794760"/>
            <a:ext cx="73152" cy="123444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932688" y="3959352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Design Goal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932688" y="4407408"/>
            <a:ext cx="30175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Minimize response time while keeping video local whenever possible.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4389120" y="3794760"/>
            <a:ext cx="3383280" cy="12344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4389120" y="379476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4590288" y="3959352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4590288" y="4407408"/>
            <a:ext cx="30175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Latency • FPS • accuracy • RAM • power • false alarms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8046720" y="3794760"/>
            <a:ext cx="3383280" cy="12344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8046720" y="379476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8247888" y="3959352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Engineering Trade-off</a:t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8247888" y="4407408"/>
            <a:ext cx="30175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 smaller model may be faster but can reduce detection accuracy.</a:t>
            </a:r>
            <a:endParaRPr/>
          </a:p>
        </p:txBody>
      </p:sp>
      <p:sp>
        <p:nvSpPr>
          <p:cNvPr id="427" name="Google Shape;427;p24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pic>
        <p:nvPicPr>
          <p:cNvPr id="428" name="Google Shape;4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Security, Privacy &amp; Reliability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Moving AI to the edge reduces some risks—but introduces new attack surfaces.</a:t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640080" y="155448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841247" y="171907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841247" y="216712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Raw sensor data can remain local; only events, embeddings or summaries may be shared.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4389120" y="155448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4389120" y="1554480"/>
            <a:ext cx="73152" cy="15087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4590288" y="171907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Model Security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4590288" y="216712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Protect model files, keys and update channels from tampering and extraction.</a:t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8138160" y="155448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8138160" y="1554480"/>
            <a:ext cx="73152" cy="150876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 txBox="1"/>
          <p:nvPr/>
        </p:nvSpPr>
        <p:spPr>
          <a:xfrm>
            <a:off x="8339328" y="171907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Device Security</a:t>
            </a:r>
            <a:endParaRPr/>
          </a:p>
        </p:txBody>
      </p:sp>
      <p:sp>
        <p:nvSpPr>
          <p:cNvPr id="448" name="Google Shape;448;p25"/>
          <p:cNvSpPr txBox="1"/>
          <p:nvPr/>
        </p:nvSpPr>
        <p:spPr>
          <a:xfrm>
            <a:off x="8339328" y="216712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Secure boot, hardware roots of trust and access control protect the edge node.</a:t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640080" y="34290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640080" y="342900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841247" y="35935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Adversarial Inputs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841247" y="404164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Attackers may manipulate sensor inputs or exploit model weaknesses.</a:t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4389120" y="34290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4389120" y="3429000"/>
            <a:ext cx="73152" cy="150876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4590288" y="35935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Fleet Management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4590288" y="404164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Thousands of devices need safe model updates, monitoring and rollback.</a:t>
            </a:r>
            <a:endParaRPr/>
          </a:p>
        </p:txBody>
      </p:sp>
      <p:sp>
        <p:nvSpPr>
          <p:cNvPr id="457" name="Google Shape;457;p25"/>
          <p:cNvSpPr/>
          <p:nvPr/>
        </p:nvSpPr>
        <p:spPr>
          <a:xfrm>
            <a:off x="8138160" y="34290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8138160" y="3429000"/>
            <a:ext cx="73152" cy="15087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8339328" y="35935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8339328" y="4041648"/>
            <a:ext cx="3063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Local operation can improve availability during intermittent connectivity.</a:t>
            </a:r>
            <a:endParaRPr/>
          </a:p>
        </p:txBody>
      </p:sp>
      <p:sp>
        <p:nvSpPr>
          <p:cNvPr id="461" name="Google Shape;461;p25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id="462" name="Google Shape;4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Advantages &amp; Limitations</a:t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685800" y="1600200"/>
            <a:ext cx="5257800" cy="3566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685800" y="1600200"/>
            <a:ext cx="73152" cy="35661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 txBox="1"/>
          <p:nvPr/>
        </p:nvSpPr>
        <p:spPr>
          <a:xfrm>
            <a:off x="886968" y="1764792"/>
            <a:ext cx="4910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</p:txBody>
      </p:sp>
      <p:sp>
        <p:nvSpPr>
          <p:cNvPr id="473" name="Google Shape;473;p26"/>
          <p:cNvSpPr txBox="1"/>
          <p:nvPr/>
        </p:nvSpPr>
        <p:spPr>
          <a:xfrm>
            <a:off x="886968" y="2212848"/>
            <a:ext cx="4892040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Lower latency for time-critical decisions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Reduced bandwidth consumption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Better data locality and privacy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More resilient operation with weak connectivity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Scalable distributed intelligence</a:t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6263640" y="1600200"/>
            <a:ext cx="5257800" cy="3566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6263640" y="1600200"/>
            <a:ext cx="73152" cy="35661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 txBox="1"/>
          <p:nvPr/>
        </p:nvSpPr>
        <p:spPr>
          <a:xfrm>
            <a:off x="6464807" y="1764792"/>
            <a:ext cx="4910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/>
          </a:p>
        </p:txBody>
      </p:sp>
      <p:sp>
        <p:nvSpPr>
          <p:cNvPr id="477" name="Google Shape;477;p26"/>
          <p:cNvSpPr txBox="1"/>
          <p:nvPr/>
        </p:nvSpPr>
        <p:spPr>
          <a:xfrm>
            <a:off x="6464807" y="2212848"/>
            <a:ext cx="4892040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Limited CPU/GPU/NPU, memory and battery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Model updates are harder across large fleets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Hardware heterogeneity complicates deployment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Local devices can be physically attacked</a:t>
            </a:r>
            <a:b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Accuracy–latency–energy trade-offs must be managed</a:t>
            </a:r>
            <a:endParaRPr/>
          </a:p>
        </p:txBody>
      </p:sp>
      <p:sp>
        <p:nvSpPr>
          <p:cNvPr id="478" name="Google Shape;478;p26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479" name="Google Shape;4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Future Direction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Where Edge Intelligence is heading.</a:t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594360" y="1261872"/>
            <a:ext cx="10972800" cy="32004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85800" y="16002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85800" y="1600200"/>
            <a:ext cx="73152" cy="173736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 txBox="1"/>
          <p:nvPr/>
        </p:nvSpPr>
        <p:spPr>
          <a:xfrm>
            <a:off x="88696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On-device Generative AI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886968" y="22128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Smaller language/vision models running locally</a:t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4480560" y="16002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4480560" y="1600200"/>
            <a:ext cx="73152" cy="173736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 txBox="1"/>
          <p:nvPr/>
        </p:nvSpPr>
        <p:spPr>
          <a:xfrm>
            <a:off x="468172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Federated Learning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4681728" y="22128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Collaborative model improvement without centralizing raw data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8275320" y="16002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8275320" y="160020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8476488" y="1764792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6G + Edge AI</a:t>
            </a:r>
            <a:endParaRPr/>
          </a:p>
        </p:txBody>
      </p:sp>
      <p:sp>
        <p:nvSpPr>
          <p:cNvPr id="499" name="Google Shape;499;p27"/>
          <p:cNvSpPr txBox="1"/>
          <p:nvPr/>
        </p:nvSpPr>
        <p:spPr>
          <a:xfrm>
            <a:off x="8476488" y="22128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Ultra-low-latency connectivity and distributed intelligence</a:t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685800" y="36576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685800" y="365760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 txBox="1"/>
          <p:nvPr/>
        </p:nvSpPr>
        <p:spPr>
          <a:xfrm>
            <a:off x="886968" y="3822191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AI Accelerators</a:t>
            </a:r>
            <a:endParaRPr/>
          </a:p>
        </p:txBody>
      </p:sp>
      <p:sp>
        <p:nvSpPr>
          <p:cNvPr id="503" name="Google Shape;503;p27"/>
          <p:cNvSpPr txBox="1"/>
          <p:nvPr/>
        </p:nvSpPr>
        <p:spPr>
          <a:xfrm>
            <a:off x="886968" y="42702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Dedicated NPUs and energy-efficient heterogeneous compute</a:t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4480560" y="36576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4480560" y="365760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 txBox="1"/>
          <p:nvPr/>
        </p:nvSpPr>
        <p:spPr>
          <a:xfrm>
            <a:off x="4681728" y="3822191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Agentic Edge Systems</a:t>
            </a:r>
            <a:endParaRPr/>
          </a:p>
        </p:txBody>
      </p:sp>
      <p:sp>
        <p:nvSpPr>
          <p:cNvPr id="507" name="Google Shape;507;p27"/>
          <p:cNvSpPr txBox="1"/>
          <p:nvPr/>
        </p:nvSpPr>
        <p:spPr>
          <a:xfrm>
            <a:off x="4681728" y="42702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Multiple local agents planning, coordinating and acting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8275320" y="365760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8275320" y="3657600"/>
            <a:ext cx="73152" cy="17373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8476488" y="3822191"/>
            <a:ext cx="3081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Sustainable Edge AI</a:t>
            </a:r>
            <a:endParaRPr/>
          </a:p>
        </p:txBody>
      </p:sp>
      <p:sp>
        <p:nvSpPr>
          <p:cNvPr id="511" name="Google Shape;511;p27"/>
          <p:cNvSpPr txBox="1"/>
          <p:nvPr/>
        </p:nvSpPr>
        <p:spPr>
          <a:xfrm>
            <a:off x="8476488" y="4270248"/>
            <a:ext cx="30632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Optimize accuracy per watt, not accuracy alone</a:t>
            </a:r>
            <a:endParaRPr/>
          </a:p>
        </p:txBody>
      </p:sp>
      <p:sp>
        <p:nvSpPr>
          <p:cNvPr id="512" name="Google Shape;512;p27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id="513" name="Google Shape;5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Key Takeaways</a:t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731520" y="1261872"/>
            <a:ext cx="10789920" cy="36576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941832" y="172821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23" name="Google Shape;523;p28"/>
          <p:cNvSpPr txBox="1"/>
          <p:nvPr/>
        </p:nvSpPr>
        <p:spPr>
          <a:xfrm>
            <a:off x="1463040" y="1627632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Edge AI places intelligence close to where data is generated.</a:t>
            </a:r>
            <a:endParaRPr/>
          </a:p>
        </p:txBody>
      </p:sp>
      <p:sp>
        <p:nvSpPr>
          <p:cNvPr id="524" name="Google Shape;524;p28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 txBox="1"/>
          <p:nvPr/>
        </p:nvSpPr>
        <p:spPr>
          <a:xfrm>
            <a:off x="941832" y="25054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1463040" y="2404872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It improves responsiveness, bandwidth efficiency and data locality.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822960" y="320040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 txBox="1"/>
          <p:nvPr/>
        </p:nvSpPr>
        <p:spPr>
          <a:xfrm>
            <a:off x="941832" y="328269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29" name="Google Shape;529;p28"/>
          <p:cNvSpPr txBox="1"/>
          <p:nvPr/>
        </p:nvSpPr>
        <p:spPr>
          <a:xfrm>
            <a:off x="1463040" y="3182112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Successful deployment depends on model optimization and hardware awareness.</a:t>
            </a:r>
            <a:endParaRPr/>
          </a:p>
        </p:txBody>
      </p:sp>
      <p:sp>
        <p:nvSpPr>
          <p:cNvPr id="530" name="Google Shape;530;p28"/>
          <p:cNvSpPr/>
          <p:nvPr/>
        </p:nvSpPr>
        <p:spPr>
          <a:xfrm>
            <a:off x="822960" y="3977639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 txBox="1"/>
          <p:nvPr/>
        </p:nvSpPr>
        <p:spPr>
          <a:xfrm>
            <a:off x="941832" y="4059935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32" name="Google Shape;532;p28"/>
          <p:cNvSpPr txBox="1"/>
          <p:nvPr/>
        </p:nvSpPr>
        <p:spPr>
          <a:xfrm>
            <a:off x="1463040" y="3959352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Security, fleet management and energy efficiency are first-class engineering concerns.</a:t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822960" y="475488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 txBox="1"/>
          <p:nvPr/>
        </p:nvSpPr>
        <p:spPr>
          <a:xfrm>
            <a:off x="941832" y="483717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535" name="Google Shape;535;p28"/>
          <p:cNvSpPr txBox="1"/>
          <p:nvPr/>
        </p:nvSpPr>
        <p:spPr>
          <a:xfrm>
            <a:off x="1463040" y="4736592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 future is hybrid: edge devices, edge servers and cloud systems working together.</a:t>
            </a:r>
            <a:endParaRPr/>
          </a:p>
        </p:txBody>
      </p:sp>
      <p:sp>
        <p:nvSpPr>
          <p:cNvPr id="536" name="Google Shape;536;p28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id="537" name="Google Shape;5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/>
          <p:cNvSpPr txBox="1"/>
          <p:nvPr/>
        </p:nvSpPr>
        <p:spPr>
          <a:xfrm>
            <a:off x="594360" y="621792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References — IEEE Papers (2022–2026)</a:t>
            </a:r>
            <a:endParaRPr/>
          </a:p>
        </p:txBody>
      </p:sp>
      <p:sp>
        <p:nvSpPr>
          <p:cNvPr id="543" name="Google Shape;543;p29"/>
          <p:cNvSpPr txBox="1"/>
          <p:nvPr/>
        </p:nvSpPr>
        <p:spPr>
          <a:xfrm>
            <a:off x="612648" y="1143000"/>
            <a:ext cx="1078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APA-style entries; selected for technical relevance and searchable in Google Scholar.</a:t>
            </a:r>
            <a:endParaRPr/>
          </a:p>
        </p:txBody>
      </p:sp>
      <p:sp>
        <p:nvSpPr>
          <p:cNvPr id="544" name="Google Shape;544;p29"/>
          <p:cNvSpPr/>
          <p:nvPr/>
        </p:nvSpPr>
        <p:spPr>
          <a:xfrm>
            <a:off x="594360" y="1536192"/>
            <a:ext cx="10972800" cy="32100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 txBox="1"/>
          <p:nvPr/>
        </p:nvSpPr>
        <p:spPr>
          <a:xfrm>
            <a:off x="658368" y="1755648"/>
            <a:ext cx="109272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[1] Peltonen, E., Ahmad, I., Aral, A., Capobianco, M., Ding, A. Y., et al. (2022). The many faces of edge intelligence. IEEE Access, 10, 104769–104782. https://doi.org/10.1109/ACCESS.2022.3210584</a:t>
            </a:r>
            <a:endParaRPr sz="12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[2] Badidi, E., Moumane, K., &amp; El Ghazi, F. (2023). Opportunities, applications, and challenges of Edge-AI enabled video analytics in smart cities: A systematic review. IEEE Access, 11, 80543–80572. https://doi.org/10.1109/ACCESS.2023.3300658</a:t>
            </a:r>
            <a:endParaRPr sz="12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[3] Meuser, T., Loven, L., Bhuyan, M., Patil, S. G., Dustdar, S., et al. (2024). Revisiting Edge AI: Opportunities and challenges. IEEE Internet Computing, 28(4), 49–59. https://doi.org/10.1109/MIC.2024.3383758</a:t>
            </a:r>
            <a:endParaRPr sz="12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[4] Iodice, G. M., &amp; Furtner, W. (2025). Edge AI—An industry view. IEEE Design &amp; Test. https://doi.org/10.1109/MDAT.2025.3576338</a:t>
            </a:r>
            <a:endParaRPr sz="12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[5] Ullah, S., Wu, J., Kamal, M. M., Alzaylaee, M. K., &amp; Alibakhshikenari, M. (2026). Spectre-Fed: Evolving federated edge intelligence from FedEdge-ID to robust-private IoT intrusion detection via hybrid adversarial training. IEEE Open Journal of the Communications Society. https://doi.org/10.1109/OJCOMS.2026.3665325</a:t>
            </a:r>
            <a:endParaRPr sz="1200"/>
          </a:p>
        </p:txBody>
      </p:sp>
      <p:sp>
        <p:nvSpPr>
          <p:cNvPr id="546" name="Google Shape;546;p29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pic>
        <p:nvPicPr>
          <p:cNvPr id="547" name="Google Shape;5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Edge Intelligence: AI Without the Cloud</a:t>
            </a:r>
            <a:endParaRPr/>
          </a:p>
        </p:txBody>
      </p:sp>
      <p:sp>
        <p:nvSpPr>
          <p:cNvPr id="554" name="Google Shape;554;p30"/>
          <p:cNvSpPr txBox="1"/>
          <p:nvPr/>
        </p:nvSpPr>
        <p:spPr>
          <a:xfrm>
            <a:off x="1092708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pic>
        <p:nvPicPr>
          <p:cNvPr id="555" name="Google Shape;5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298" y="109324"/>
            <a:ext cx="1028725" cy="10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