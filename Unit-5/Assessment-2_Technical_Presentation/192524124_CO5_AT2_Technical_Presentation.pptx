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embeddedFontLst>
    <p:embeddedFont>
      <p:font typeface="Play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Play-regular.fnt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Play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9784080" y="731520"/>
            <a:ext cx="1371600" cy="137160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10607040" y="1554480"/>
            <a:ext cx="731520" cy="731520"/>
          </a:xfrm>
          <a:prstGeom prst="ellipse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9144000" y="1828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10241280" y="4480560"/>
            <a:ext cx="1645920" cy="1645920"/>
          </a:xfrm>
          <a:prstGeom prst="ellipse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602195" y="1828799"/>
            <a:ext cx="87783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Edge Intelligence: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BCD4"/>
                </a:solidFill>
                <a:latin typeface="Play"/>
                <a:ea typeface="Play"/>
                <a:cs typeface="Play"/>
                <a:sym typeface="Play"/>
              </a:rPr>
              <a:t>AI Without the Cloud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2173853" y="3136490"/>
            <a:ext cx="7772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E2E8F0"/>
                </a:solidFill>
              </a:rPr>
              <a:t>CO5 ASSESSMENT TOOL 2 TECHNICAL PRESENTATION </a:t>
            </a:r>
            <a:br>
              <a:rPr b="0" i="0" lang="en-US" sz="17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• Unit V — Agents, Case Studies &amp; Real-Time Projects</a:t>
            </a:r>
            <a:endParaRPr sz="1200"/>
          </a:p>
        </p:txBody>
      </p:sp>
      <p:sp>
        <p:nvSpPr>
          <p:cNvPr id="90" name="Google Shape;90;p13"/>
          <p:cNvSpPr/>
          <p:nvPr/>
        </p:nvSpPr>
        <p:spPr>
          <a:xfrm>
            <a:off x="4437015" y="3977639"/>
            <a:ext cx="3246000" cy="502800"/>
          </a:xfrm>
          <a:prstGeom prst="roundRect">
            <a:avLst>
              <a:gd fmla="val 16667" name="adj"/>
            </a:avLst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4528245" y="4105912"/>
            <a:ext cx="2926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LOW LATENCY • PRIVACY • REAL-TIME AI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86725" y="5471525"/>
            <a:ext cx="5640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E2E8F0"/>
                </a:solidFill>
              </a:rPr>
              <a:t>Guided by      :</a:t>
            </a:r>
            <a:r>
              <a:rPr lang="en-US" sz="1700">
                <a:solidFill>
                  <a:srgbClr val="E2E8F0"/>
                </a:solidFill>
              </a:rPr>
              <a:t> Dr. Nagarajan Babu </a:t>
            </a:r>
            <a:r>
              <a:rPr lang="en-US" sz="1500">
                <a:solidFill>
                  <a:srgbClr val="E2E8F0"/>
                </a:solidFill>
              </a:rPr>
              <a:t>• </a:t>
            </a:r>
            <a:r>
              <a:rPr lang="en-US" sz="1500">
                <a:solidFill>
                  <a:srgbClr val="E2E8F0"/>
                </a:solidFill>
              </a:rPr>
              <a:t>Professor</a:t>
            </a:r>
            <a:br>
              <a:rPr lang="en-US" sz="1700">
                <a:solidFill>
                  <a:srgbClr val="E2E8F0"/>
                </a:solidFill>
              </a:rPr>
            </a:br>
            <a:r>
              <a:rPr b="1" lang="en-US" sz="1700">
                <a:solidFill>
                  <a:srgbClr val="E2E8F0"/>
                </a:solidFill>
              </a:rPr>
              <a:t>Presented by : </a:t>
            </a:r>
            <a:r>
              <a:rPr lang="en-US" sz="1700">
                <a:solidFill>
                  <a:srgbClr val="E2E8F0"/>
                </a:solidFill>
              </a:rPr>
              <a:t>Priyanka.G [192524124] </a:t>
            </a:r>
            <a:r>
              <a:rPr lang="en-US" sz="1500">
                <a:solidFill>
                  <a:srgbClr val="E2E8F0"/>
                </a:solidFill>
              </a:rPr>
              <a:t>• B.Tech AI&amp;DS</a:t>
            </a:r>
            <a:endParaRPr sz="1200"/>
          </a:p>
        </p:txBody>
      </p:sp>
      <p:sp>
        <p:nvSpPr>
          <p:cNvPr id="94" name="Google Shape;94;p13"/>
          <p:cNvSpPr txBox="1"/>
          <p:nvPr/>
        </p:nvSpPr>
        <p:spPr>
          <a:xfrm>
            <a:off x="2405900" y="1382400"/>
            <a:ext cx="71709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FFFF"/>
                </a:solidFill>
              </a:rPr>
              <a:t>CSA1714 </a:t>
            </a:r>
            <a:r>
              <a:rPr b="1" lang="en-US" sz="1700">
                <a:solidFill>
                  <a:srgbClr val="00FFFF"/>
                </a:solidFill>
              </a:rPr>
              <a:t>ARTIFICIAL</a:t>
            </a:r>
            <a:r>
              <a:rPr b="1" lang="en-US" sz="1700">
                <a:solidFill>
                  <a:srgbClr val="00FFFF"/>
                </a:solidFill>
              </a:rPr>
              <a:t> </a:t>
            </a:r>
            <a:r>
              <a:rPr b="1" lang="en-US" sz="1700">
                <a:solidFill>
                  <a:srgbClr val="00FFFF"/>
                </a:solidFill>
              </a:rPr>
              <a:t>INTELLIGENCE</a:t>
            </a:r>
            <a:endParaRPr b="1" sz="1200">
              <a:solidFill>
                <a:srgbClr val="00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Presentation Objectives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850392" y="1655064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1417320" y="1536192"/>
            <a:ext cx="9509760" cy="621792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1417320" y="1536192"/>
            <a:ext cx="73152" cy="621792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618488" y="1700784"/>
            <a:ext cx="916228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01 • Understand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 flipH="1" rot="10800000">
            <a:off x="1618488" y="2020825"/>
            <a:ext cx="9144000" cy="128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Define Edge AI and distinguish it from cloud-based AI.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731520" y="2468880"/>
            <a:ext cx="502920" cy="50292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850392" y="2569464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1417320" y="2450592"/>
            <a:ext cx="9509760" cy="621792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1417320" y="2450592"/>
            <a:ext cx="73152" cy="621792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1618488" y="2615184"/>
            <a:ext cx="916228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02 • Architecture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 flipH="1" rot="10800000">
            <a:off x="1618488" y="2935225"/>
            <a:ext cx="9144000" cy="128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Explain the end-to-end edge intelligence pipeline.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731520" y="338328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850392" y="3483864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16" name="Google Shape;116;p14"/>
          <p:cNvSpPr/>
          <p:nvPr/>
        </p:nvSpPr>
        <p:spPr>
          <a:xfrm>
            <a:off x="1417320" y="3364992"/>
            <a:ext cx="9509760" cy="621792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1417320" y="3364992"/>
            <a:ext cx="73152" cy="621792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1618488" y="3529584"/>
            <a:ext cx="916228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03 • Techniques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 flipH="1" rot="10800000">
            <a:off x="1618488" y="3849625"/>
            <a:ext cx="9144000" cy="128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Introduce inference optimization, quantization and model deployment.</a:t>
            </a:r>
            <a:endParaRPr/>
          </a:p>
        </p:txBody>
      </p:sp>
      <p:sp>
        <p:nvSpPr>
          <p:cNvPr id="120" name="Google Shape;120;p14"/>
          <p:cNvSpPr/>
          <p:nvPr/>
        </p:nvSpPr>
        <p:spPr>
          <a:xfrm>
            <a:off x="731520" y="429768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4"/>
          <p:cNvSpPr txBox="1"/>
          <p:nvPr/>
        </p:nvSpPr>
        <p:spPr>
          <a:xfrm>
            <a:off x="850392" y="4398264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122" name="Google Shape;122;p14"/>
          <p:cNvSpPr/>
          <p:nvPr/>
        </p:nvSpPr>
        <p:spPr>
          <a:xfrm>
            <a:off x="1417320" y="4279392"/>
            <a:ext cx="9509760" cy="621792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1417320" y="4279392"/>
            <a:ext cx="73152" cy="621792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4"/>
          <p:cNvSpPr txBox="1"/>
          <p:nvPr/>
        </p:nvSpPr>
        <p:spPr>
          <a:xfrm>
            <a:off x="1618488" y="4443984"/>
            <a:ext cx="916228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04 • Applications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 flipH="1" rot="10800000">
            <a:off x="1618488" y="4764025"/>
            <a:ext cx="9144000" cy="128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Connect Edge AI with real-time IoT, healthcare, smart cities and industry.</a:t>
            </a:r>
            <a:endParaRPr/>
          </a:p>
        </p:txBody>
      </p:sp>
      <p:sp>
        <p:nvSpPr>
          <p:cNvPr id="126" name="Google Shape;126;p14"/>
          <p:cNvSpPr/>
          <p:nvPr/>
        </p:nvSpPr>
        <p:spPr>
          <a:xfrm>
            <a:off x="731520" y="5212080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4"/>
          <p:cNvSpPr txBox="1"/>
          <p:nvPr/>
        </p:nvSpPr>
        <p:spPr>
          <a:xfrm>
            <a:off x="850392" y="5312664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1417320" y="5193792"/>
            <a:ext cx="9509760" cy="621792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1417320" y="5193792"/>
            <a:ext cx="73152" cy="621792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1618488" y="5358384"/>
            <a:ext cx="916228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05 • Engineering View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 flipH="1" rot="10800000">
            <a:off x="1618488" y="5678425"/>
            <a:ext cx="9144000" cy="1280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Evaluate latency, privacy, energy, accuracy and security trade-offs.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What Is Edge Intelligence?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AI inference and, in some systems, learning performed close to where data is generated.</a:t>
            </a:r>
            <a:endParaRPr/>
          </a:p>
        </p:txBody>
      </p:sp>
      <p:sp>
        <p:nvSpPr>
          <p:cNvPr id="140" name="Google Shape;140;p15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5"/>
          <p:cNvSpPr/>
          <p:nvPr/>
        </p:nvSpPr>
        <p:spPr>
          <a:xfrm>
            <a:off x="685800" y="1600200"/>
            <a:ext cx="521208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5"/>
          <p:cNvSpPr/>
          <p:nvPr/>
        </p:nvSpPr>
        <p:spPr>
          <a:xfrm>
            <a:off x="685800" y="1600200"/>
            <a:ext cx="73152" cy="182880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 txBox="1"/>
          <p:nvPr/>
        </p:nvSpPr>
        <p:spPr>
          <a:xfrm>
            <a:off x="886968" y="1764792"/>
            <a:ext cx="48646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Core Idea</a:t>
            </a:r>
            <a:endParaRPr/>
          </a:p>
        </p:txBody>
      </p:sp>
      <p:sp>
        <p:nvSpPr>
          <p:cNvPr id="144" name="Google Shape;144;p15"/>
          <p:cNvSpPr txBox="1"/>
          <p:nvPr/>
        </p:nvSpPr>
        <p:spPr>
          <a:xfrm>
            <a:off x="886968" y="2212848"/>
            <a:ext cx="4846320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Move useful computation from a distant centralized cloud toward devices, gateways and nearby edge servers. This reduces dependence on continuous cloud connectivity.</a:t>
            </a:r>
            <a:endParaRPr/>
          </a:p>
        </p:txBody>
      </p:sp>
      <p:sp>
        <p:nvSpPr>
          <p:cNvPr id="145" name="Google Shape;145;p15"/>
          <p:cNvSpPr/>
          <p:nvPr/>
        </p:nvSpPr>
        <p:spPr>
          <a:xfrm>
            <a:off x="6217920" y="1600200"/>
            <a:ext cx="521208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5"/>
          <p:cNvSpPr/>
          <p:nvPr/>
        </p:nvSpPr>
        <p:spPr>
          <a:xfrm>
            <a:off x="6217920" y="1600200"/>
            <a:ext cx="73152" cy="182880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6419088" y="1764792"/>
            <a:ext cx="48646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Why It Matters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6419088" y="2212848"/>
            <a:ext cx="4846320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Edge systems are designed around real-time response, constrained compute, energy efficiency, privacy and resilient operation.</a:t>
            </a:r>
            <a:endParaRPr/>
          </a:p>
        </p:txBody>
      </p:sp>
      <p:sp>
        <p:nvSpPr>
          <p:cNvPr id="149" name="Google Shape;149;p15"/>
          <p:cNvSpPr/>
          <p:nvPr/>
        </p:nvSpPr>
        <p:spPr>
          <a:xfrm>
            <a:off x="914400" y="4160520"/>
            <a:ext cx="2011680" cy="7772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1E88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987552" y="4233672"/>
            <a:ext cx="1865376" cy="6309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Sensors / Cameras</a:t>
            </a:r>
            <a:endParaRPr/>
          </a:p>
        </p:txBody>
      </p:sp>
      <p:cxnSp>
        <p:nvCxnSpPr>
          <p:cNvPr id="151" name="Google Shape;151;p15"/>
          <p:cNvCxnSpPr/>
          <p:nvPr/>
        </p:nvCxnSpPr>
        <p:spPr>
          <a:xfrm>
            <a:off x="2926080" y="4544568"/>
            <a:ext cx="7315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2" name="Google Shape;152;p15"/>
          <p:cNvSpPr/>
          <p:nvPr/>
        </p:nvSpPr>
        <p:spPr>
          <a:xfrm>
            <a:off x="3657600" y="4160520"/>
            <a:ext cx="2103120" cy="7772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3730752" y="4233672"/>
            <a:ext cx="1956815" cy="6309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Edge Device</a:t>
            </a:r>
            <a:endParaRPr/>
          </a:p>
        </p:txBody>
      </p:sp>
      <p:cxnSp>
        <p:nvCxnSpPr>
          <p:cNvPr id="154" name="Google Shape;154;p15"/>
          <p:cNvCxnSpPr/>
          <p:nvPr/>
        </p:nvCxnSpPr>
        <p:spPr>
          <a:xfrm>
            <a:off x="5760720" y="4544568"/>
            <a:ext cx="7315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5" name="Google Shape;155;p15"/>
          <p:cNvSpPr/>
          <p:nvPr/>
        </p:nvSpPr>
        <p:spPr>
          <a:xfrm>
            <a:off x="6492240" y="4160520"/>
            <a:ext cx="2103120" cy="7772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 txBox="1"/>
          <p:nvPr/>
        </p:nvSpPr>
        <p:spPr>
          <a:xfrm>
            <a:off x="6565392" y="4233672"/>
            <a:ext cx="1956815" cy="6309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AI Inference</a:t>
            </a:r>
            <a:endParaRPr/>
          </a:p>
        </p:txBody>
      </p:sp>
      <p:cxnSp>
        <p:nvCxnSpPr>
          <p:cNvPr id="157" name="Google Shape;157;p15"/>
          <p:cNvCxnSpPr/>
          <p:nvPr/>
        </p:nvCxnSpPr>
        <p:spPr>
          <a:xfrm>
            <a:off x="8595360" y="4544568"/>
            <a:ext cx="7315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8" name="Google Shape;158;p15"/>
          <p:cNvSpPr/>
          <p:nvPr/>
        </p:nvSpPr>
        <p:spPr>
          <a:xfrm>
            <a:off x="9326880" y="4160520"/>
            <a:ext cx="1828800" cy="7772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5"/>
          <p:cNvSpPr txBox="1"/>
          <p:nvPr/>
        </p:nvSpPr>
        <p:spPr>
          <a:xfrm>
            <a:off x="9400032" y="4233672"/>
            <a:ext cx="1682496" cy="6309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Action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Cloud AI vs. Edge AI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engineering choice is not 'cloud or edge'—many practical systems use both.</a:t>
            </a:r>
            <a:endParaRPr/>
          </a:p>
        </p:txBody>
      </p:sp>
      <p:sp>
        <p:nvSpPr>
          <p:cNvPr id="168" name="Google Shape;168;p16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6"/>
          <p:cNvSpPr/>
          <p:nvPr/>
        </p:nvSpPr>
        <p:spPr>
          <a:xfrm>
            <a:off x="640080" y="1554480"/>
            <a:ext cx="201168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6"/>
          <p:cNvSpPr txBox="1"/>
          <p:nvPr/>
        </p:nvSpPr>
        <p:spPr>
          <a:xfrm>
            <a:off x="731519" y="167335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Dimension</a:t>
            </a:r>
            <a:endParaRPr/>
          </a:p>
        </p:txBody>
      </p:sp>
      <p:sp>
        <p:nvSpPr>
          <p:cNvPr id="171" name="Google Shape;171;p16"/>
          <p:cNvSpPr/>
          <p:nvPr/>
        </p:nvSpPr>
        <p:spPr>
          <a:xfrm>
            <a:off x="2880360" y="1554480"/>
            <a:ext cx="429768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6"/>
          <p:cNvSpPr txBox="1"/>
          <p:nvPr/>
        </p:nvSpPr>
        <p:spPr>
          <a:xfrm>
            <a:off x="2971800" y="1673352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Cloud-Centric AI</a:t>
            </a:r>
            <a:endParaRPr/>
          </a:p>
        </p:txBody>
      </p:sp>
      <p:sp>
        <p:nvSpPr>
          <p:cNvPr id="173" name="Google Shape;173;p16"/>
          <p:cNvSpPr/>
          <p:nvPr/>
        </p:nvSpPr>
        <p:spPr>
          <a:xfrm>
            <a:off x="7452360" y="1554480"/>
            <a:ext cx="406908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 txBox="1"/>
          <p:nvPr/>
        </p:nvSpPr>
        <p:spPr>
          <a:xfrm>
            <a:off x="7543800" y="1673352"/>
            <a:ext cx="388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Edge AI</a:t>
            </a:r>
            <a:endParaRPr/>
          </a:p>
        </p:txBody>
      </p:sp>
      <p:sp>
        <p:nvSpPr>
          <p:cNvPr id="175" name="Google Shape;175;p16"/>
          <p:cNvSpPr/>
          <p:nvPr/>
        </p:nvSpPr>
        <p:spPr>
          <a:xfrm>
            <a:off x="640080" y="2057400"/>
            <a:ext cx="20116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6"/>
          <p:cNvSpPr txBox="1"/>
          <p:nvPr/>
        </p:nvSpPr>
        <p:spPr>
          <a:xfrm>
            <a:off x="731519" y="216712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Latency</a:t>
            </a:r>
            <a:endParaRPr/>
          </a:p>
        </p:txBody>
      </p:sp>
      <p:sp>
        <p:nvSpPr>
          <p:cNvPr id="177" name="Google Shape;177;p16"/>
          <p:cNvSpPr/>
          <p:nvPr/>
        </p:nvSpPr>
        <p:spPr>
          <a:xfrm>
            <a:off x="2880360" y="2057400"/>
            <a:ext cx="42976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 txBox="1"/>
          <p:nvPr/>
        </p:nvSpPr>
        <p:spPr>
          <a:xfrm>
            <a:off x="2971800" y="216712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Network round-trip may add delay</a:t>
            </a:r>
            <a:endParaRPr/>
          </a:p>
        </p:txBody>
      </p:sp>
      <p:sp>
        <p:nvSpPr>
          <p:cNvPr id="179" name="Google Shape;179;p16"/>
          <p:cNvSpPr/>
          <p:nvPr/>
        </p:nvSpPr>
        <p:spPr>
          <a:xfrm>
            <a:off x="7452360" y="2057400"/>
            <a:ext cx="40690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7543800" y="2167128"/>
            <a:ext cx="3886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Local inference can respond faster</a:t>
            </a:r>
            <a:endParaRPr/>
          </a:p>
        </p:txBody>
      </p:sp>
      <p:sp>
        <p:nvSpPr>
          <p:cNvPr id="181" name="Google Shape;181;p16"/>
          <p:cNvSpPr/>
          <p:nvPr/>
        </p:nvSpPr>
        <p:spPr>
          <a:xfrm>
            <a:off x="640080" y="2697480"/>
            <a:ext cx="20116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6"/>
          <p:cNvSpPr txBox="1"/>
          <p:nvPr/>
        </p:nvSpPr>
        <p:spPr>
          <a:xfrm>
            <a:off x="731519" y="280720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Bandwidth</a:t>
            </a:r>
            <a:endParaRPr/>
          </a:p>
        </p:txBody>
      </p:sp>
      <p:sp>
        <p:nvSpPr>
          <p:cNvPr id="183" name="Google Shape;183;p16"/>
          <p:cNvSpPr/>
          <p:nvPr/>
        </p:nvSpPr>
        <p:spPr>
          <a:xfrm>
            <a:off x="2880360" y="2697480"/>
            <a:ext cx="42976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2971800" y="280720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Raw/processed data sent upstream</a:t>
            </a:r>
            <a:endParaRPr/>
          </a:p>
        </p:txBody>
      </p:sp>
      <p:sp>
        <p:nvSpPr>
          <p:cNvPr id="185" name="Google Shape;185;p16"/>
          <p:cNvSpPr/>
          <p:nvPr/>
        </p:nvSpPr>
        <p:spPr>
          <a:xfrm>
            <a:off x="7452360" y="2697480"/>
            <a:ext cx="40690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 txBox="1"/>
          <p:nvPr/>
        </p:nvSpPr>
        <p:spPr>
          <a:xfrm>
            <a:off x="7543800" y="2807208"/>
            <a:ext cx="3886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Less data needs to leave the device</a:t>
            </a:r>
            <a:endParaRPr/>
          </a:p>
        </p:txBody>
      </p:sp>
      <p:sp>
        <p:nvSpPr>
          <p:cNvPr id="187" name="Google Shape;187;p16"/>
          <p:cNvSpPr/>
          <p:nvPr/>
        </p:nvSpPr>
        <p:spPr>
          <a:xfrm>
            <a:off x="640080" y="3337560"/>
            <a:ext cx="20116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6"/>
          <p:cNvSpPr txBox="1"/>
          <p:nvPr/>
        </p:nvSpPr>
        <p:spPr>
          <a:xfrm>
            <a:off x="731519" y="344728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Privacy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2880360" y="3337560"/>
            <a:ext cx="42976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2971800" y="344728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Data often leaves local environment</a:t>
            </a:r>
            <a:endParaRPr/>
          </a:p>
        </p:txBody>
      </p:sp>
      <p:sp>
        <p:nvSpPr>
          <p:cNvPr id="191" name="Google Shape;191;p16"/>
          <p:cNvSpPr/>
          <p:nvPr/>
        </p:nvSpPr>
        <p:spPr>
          <a:xfrm>
            <a:off x="7452360" y="3337560"/>
            <a:ext cx="40690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6"/>
          <p:cNvSpPr txBox="1"/>
          <p:nvPr/>
        </p:nvSpPr>
        <p:spPr>
          <a:xfrm>
            <a:off x="7543800" y="3447288"/>
            <a:ext cx="3886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Sensitive data can remain local</a:t>
            </a:r>
            <a:endParaRPr/>
          </a:p>
        </p:txBody>
      </p:sp>
      <p:sp>
        <p:nvSpPr>
          <p:cNvPr id="193" name="Google Shape;193;p16"/>
          <p:cNvSpPr/>
          <p:nvPr/>
        </p:nvSpPr>
        <p:spPr>
          <a:xfrm>
            <a:off x="640080" y="3977639"/>
            <a:ext cx="20116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6"/>
          <p:cNvSpPr txBox="1"/>
          <p:nvPr/>
        </p:nvSpPr>
        <p:spPr>
          <a:xfrm>
            <a:off x="731519" y="408736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Compute</a:t>
            </a:r>
            <a:endParaRPr/>
          </a:p>
        </p:txBody>
      </p:sp>
      <p:sp>
        <p:nvSpPr>
          <p:cNvPr id="195" name="Google Shape;195;p16"/>
          <p:cNvSpPr/>
          <p:nvPr/>
        </p:nvSpPr>
        <p:spPr>
          <a:xfrm>
            <a:off x="2880360" y="3977639"/>
            <a:ext cx="42976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6"/>
          <p:cNvSpPr txBox="1"/>
          <p:nvPr/>
        </p:nvSpPr>
        <p:spPr>
          <a:xfrm>
            <a:off x="2971800" y="408736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Large centralized resources</a:t>
            </a:r>
            <a:endParaRPr/>
          </a:p>
        </p:txBody>
      </p:sp>
      <p:sp>
        <p:nvSpPr>
          <p:cNvPr id="197" name="Google Shape;197;p16"/>
          <p:cNvSpPr/>
          <p:nvPr/>
        </p:nvSpPr>
        <p:spPr>
          <a:xfrm>
            <a:off x="7452360" y="3977639"/>
            <a:ext cx="40690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6"/>
          <p:cNvSpPr txBox="1"/>
          <p:nvPr/>
        </p:nvSpPr>
        <p:spPr>
          <a:xfrm>
            <a:off x="7543800" y="4087368"/>
            <a:ext cx="3886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Limited CPU/GPU/NPU resources</a:t>
            </a:r>
            <a:endParaRPr/>
          </a:p>
        </p:txBody>
      </p:sp>
      <p:sp>
        <p:nvSpPr>
          <p:cNvPr id="199" name="Google Shape;199;p16"/>
          <p:cNvSpPr/>
          <p:nvPr/>
        </p:nvSpPr>
        <p:spPr>
          <a:xfrm>
            <a:off x="640080" y="4617720"/>
            <a:ext cx="20116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6"/>
          <p:cNvSpPr txBox="1"/>
          <p:nvPr/>
        </p:nvSpPr>
        <p:spPr>
          <a:xfrm>
            <a:off x="731519" y="472744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Availability</a:t>
            </a:r>
            <a:endParaRPr/>
          </a:p>
        </p:txBody>
      </p:sp>
      <p:sp>
        <p:nvSpPr>
          <p:cNvPr id="201" name="Google Shape;201;p16"/>
          <p:cNvSpPr/>
          <p:nvPr/>
        </p:nvSpPr>
        <p:spPr>
          <a:xfrm>
            <a:off x="2880360" y="4617720"/>
            <a:ext cx="42976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6"/>
          <p:cNvSpPr txBox="1"/>
          <p:nvPr/>
        </p:nvSpPr>
        <p:spPr>
          <a:xfrm>
            <a:off x="2971800" y="472744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Depends on network/service</a:t>
            </a:r>
            <a:endParaRPr/>
          </a:p>
        </p:txBody>
      </p:sp>
      <p:sp>
        <p:nvSpPr>
          <p:cNvPr id="203" name="Google Shape;203;p16"/>
          <p:cNvSpPr/>
          <p:nvPr/>
        </p:nvSpPr>
        <p:spPr>
          <a:xfrm>
            <a:off x="7452360" y="4617720"/>
            <a:ext cx="4069080" cy="6400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6"/>
          <p:cNvSpPr txBox="1"/>
          <p:nvPr/>
        </p:nvSpPr>
        <p:spPr>
          <a:xfrm>
            <a:off x="7543800" y="4727448"/>
            <a:ext cx="3886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Can continue during weak connectivity</a:t>
            </a:r>
            <a:endParaRPr/>
          </a:p>
        </p:txBody>
      </p:sp>
      <p:sp>
        <p:nvSpPr>
          <p:cNvPr id="205" name="Google Shape;205;p16"/>
          <p:cNvSpPr/>
          <p:nvPr/>
        </p:nvSpPr>
        <p:spPr>
          <a:xfrm>
            <a:off x="640080" y="5257800"/>
            <a:ext cx="20116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6"/>
          <p:cNvSpPr txBox="1"/>
          <p:nvPr/>
        </p:nvSpPr>
        <p:spPr>
          <a:xfrm>
            <a:off x="731519" y="5367528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Energy</a:t>
            </a:r>
            <a:endParaRPr/>
          </a:p>
        </p:txBody>
      </p:sp>
      <p:sp>
        <p:nvSpPr>
          <p:cNvPr id="207" name="Google Shape;207;p16"/>
          <p:cNvSpPr/>
          <p:nvPr/>
        </p:nvSpPr>
        <p:spPr>
          <a:xfrm>
            <a:off x="2880360" y="5257800"/>
            <a:ext cx="42976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6"/>
          <p:cNvSpPr txBox="1"/>
          <p:nvPr/>
        </p:nvSpPr>
        <p:spPr>
          <a:xfrm>
            <a:off x="2971800" y="5367528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Device communication + cloud compute</a:t>
            </a:r>
            <a:endParaRPr/>
          </a:p>
        </p:txBody>
      </p:sp>
      <p:sp>
        <p:nvSpPr>
          <p:cNvPr id="209" name="Google Shape;209;p16"/>
          <p:cNvSpPr/>
          <p:nvPr/>
        </p:nvSpPr>
        <p:spPr>
          <a:xfrm>
            <a:off x="7452360" y="5257800"/>
            <a:ext cx="4069080" cy="64008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6"/>
          <p:cNvSpPr txBox="1"/>
          <p:nvPr/>
        </p:nvSpPr>
        <p:spPr>
          <a:xfrm>
            <a:off x="7543800" y="5367528"/>
            <a:ext cx="3886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Local compute must be energy-aware</a:t>
            </a:r>
            <a:endParaRPr/>
          </a:p>
        </p:txBody>
      </p:sp>
      <p:sp>
        <p:nvSpPr>
          <p:cNvPr id="211" name="Google Shape;211;p16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7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Reference Architecture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 practical Edge AI stack from physical data to intelligent action.</a:t>
            </a:r>
            <a:endParaRPr/>
          </a:p>
        </p:txBody>
      </p:sp>
      <p:sp>
        <p:nvSpPr>
          <p:cNvPr id="219" name="Google Shape;219;p17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7"/>
          <p:cNvSpPr/>
          <p:nvPr/>
        </p:nvSpPr>
        <p:spPr>
          <a:xfrm>
            <a:off x="1051560" y="1508760"/>
            <a:ext cx="10058400" cy="658368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1E88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1280160" y="16002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88E5"/>
                </a:solidFill>
                <a:latin typeface="Arial"/>
                <a:ea typeface="Arial"/>
                <a:cs typeface="Arial"/>
                <a:sym typeface="Arial"/>
              </a:rPr>
              <a:t>PHYSICAL LAYER</a:t>
            </a:r>
            <a:endParaRPr/>
          </a:p>
        </p:txBody>
      </p:sp>
      <p:sp>
        <p:nvSpPr>
          <p:cNvPr id="222" name="Google Shape;222;p17"/>
          <p:cNvSpPr txBox="1"/>
          <p:nvPr/>
        </p:nvSpPr>
        <p:spPr>
          <a:xfrm>
            <a:off x="3520440" y="1600200"/>
            <a:ext cx="7223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Sensors • Cameras • Microphones • Machines</a:t>
            </a:r>
            <a:endParaRPr/>
          </a:p>
        </p:txBody>
      </p:sp>
      <p:cxnSp>
        <p:nvCxnSpPr>
          <p:cNvPr id="223" name="Google Shape;223;p17"/>
          <p:cNvCxnSpPr/>
          <p:nvPr/>
        </p:nvCxnSpPr>
        <p:spPr>
          <a:xfrm>
            <a:off x="6080760" y="2167128"/>
            <a:ext cx="0" cy="192024"/>
          </a:xfrm>
          <a:prstGeom prst="straightConnector1">
            <a:avLst/>
          </a:prstGeom>
          <a:noFill/>
          <a:ln cap="flat" cmpd="sng" w="1905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24" name="Google Shape;224;p17"/>
          <p:cNvSpPr/>
          <p:nvPr/>
        </p:nvSpPr>
        <p:spPr>
          <a:xfrm>
            <a:off x="1051560" y="2377439"/>
            <a:ext cx="10058400" cy="658368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7"/>
          <p:cNvSpPr txBox="1"/>
          <p:nvPr/>
        </p:nvSpPr>
        <p:spPr>
          <a:xfrm>
            <a:off x="1280160" y="2468879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BCD4"/>
                </a:solidFill>
                <a:latin typeface="Arial"/>
                <a:ea typeface="Arial"/>
                <a:cs typeface="Arial"/>
                <a:sym typeface="Arial"/>
              </a:rPr>
              <a:t>EDGE DEVICE</a:t>
            </a:r>
            <a:endParaRPr/>
          </a:p>
        </p:txBody>
      </p:sp>
      <p:sp>
        <p:nvSpPr>
          <p:cNvPr id="226" name="Google Shape;226;p17"/>
          <p:cNvSpPr txBox="1"/>
          <p:nvPr/>
        </p:nvSpPr>
        <p:spPr>
          <a:xfrm>
            <a:off x="3520440" y="2468879"/>
            <a:ext cx="7223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MCU / CPU / GPU / NPU • Local storage</a:t>
            </a:r>
            <a:endParaRPr/>
          </a:p>
        </p:txBody>
      </p:sp>
      <p:cxnSp>
        <p:nvCxnSpPr>
          <p:cNvPr id="227" name="Google Shape;227;p17"/>
          <p:cNvCxnSpPr/>
          <p:nvPr/>
        </p:nvCxnSpPr>
        <p:spPr>
          <a:xfrm>
            <a:off x="6080760" y="3035807"/>
            <a:ext cx="0" cy="192025"/>
          </a:xfrm>
          <a:prstGeom prst="straightConnector1">
            <a:avLst/>
          </a:prstGeom>
          <a:noFill/>
          <a:ln cap="flat" cmpd="sng" w="1905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28" name="Google Shape;228;p17"/>
          <p:cNvSpPr/>
          <p:nvPr/>
        </p:nvSpPr>
        <p:spPr>
          <a:xfrm>
            <a:off x="1051560" y="3246120"/>
            <a:ext cx="10058400" cy="658368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 txBox="1"/>
          <p:nvPr/>
        </p:nvSpPr>
        <p:spPr>
          <a:xfrm>
            <a:off x="1280160" y="333756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AI RUNTIME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3520440" y="3337560"/>
            <a:ext cx="7223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Pre-processing • Model inference • Post-processing</a:t>
            </a:r>
            <a:endParaRPr/>
          </a:p>
        </p:txBody>
      </p:sp>
      <p:cxnSp>
        <p:nvCxnSpPr>
          <p:cNvPr id="231" name="Google Shape;231;p17"/>
          <p:cNvCxnSpPr/>
          <p:nvPr/>
        </p:nvCxnSpPr>
        <p:spPr>
          <a:xfrm>
            <a:off x="6080760" y="3904487"/>
            <a:ext cx="0" cy="192024"/>
          </a:xfrm>
          <a:prstGeom prst="straightConnector1">
            <a:avLst/>
          </a:prstGeom>
          <a:noFill/>
          <a:ln cap="flat" cmpd="sng" w="1905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2" name="Google Shape;232;p17"/>
          <p:cNvSpPr/>
          <p:nvPr/>
        </p:nvSpPr>
        <p:spPr>
          <a:xfrm>
            <a:off x="1051560" y="4114800"/>
            <a:ext cx="10058400" cy="658368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 txBox="1"/>
          <p:nvPr/>
        </p:nvSpPr>
        <p:spPr>
          <a:xfrm>
            <a:off x="1280160" y="420624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EDGE SERVICES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3520440" y="4206240"/>
            <a:ext cx="7223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API • Monitoring • Security • Local database</a:t>
            </a:r>
            <a:endParaRPr/>
          </a:p>
        </p:txBody>
      </p:sp>
      <p:cxnSp>
        <p:nvCxnSpPr>
          <p:cNvPr id="235" name="Google Shape;235;p17"/>
          <p:cNvCxnSpPr/>
          <p:nvPr/>
        </p:nvCxnSpPr>
        <p:spPr>
          <a:xfrm>
            <a:off x="6080760" y="4773168"/>
            <a:ext cx="0" cy="192024"/>
          </a:xfrm>
          <a:prstGeom prst="straightConnector1">
            <a:avLst/>
          </a:prstGeom>
          <a:noFill/>
          <a:ln cap="flat" cmpd="sng" w="1905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6" name="Google Shape;236;p17"/>
          <p:cNvSpPr/>
          <p:nvPr/>
        </p:nvSpPr>
        <p:spPr>
          <a:xfrm>
            <a:off x="1051560" y="4983479"/>
            <a:ext cx="10058400" cy="658368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0D1B2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1280160" y="5074919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CLOUD / CONTROL PLANE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3520440" y="5074919"/>
            <a:ext cx="7223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Training • Fleet management • Global analytics</a:t>
            </a:r>
            <a:endParaRPr/>
          </a:p>
        </p:txBody>
      </p:sp>
      <p:sp>
        <p:nvSpPr>
          <p:cNvPr id="239" name="Google Shape;239;p17"/>
          <p:cNvSpPr txBox="1"/>
          <p:nvPr/>
        </p:nvSpPr>
        <p:spPr>
          <a:xfrm>
            <a:off x="1097280" y="5989320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Key principle: send models/data to the edge only when the performance, privacy or reliability benefit justifies the resource cost.</a:t>
            </a:r>
            <a:endParaRPr/>
          </a:p>
        </p:txBody>
      </p:sp>
      <p:sp>
        <p:nvSpPr>
          <p:cNvPr id="240" name="Google Shape;240;p17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8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How an Edge AI System Works</a:t>
            </a:r>
            <a:endParaRPr/>
          </a:p>
        </p:txBody>
      </p:sp>
      <p:sp>
        <p:nvSpPr>
          <p:cNvPr id="247" name="Google Shape;247;p18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 real-time inference loop.</a:t>
            </a:r>
            <a:endParaRPr/>
          </a:p>
        </p:txBody>
      </p:sp>
      <p:sp>
        <p:nvSpPr>
          <p:cNvPr id="248" name="Google Shape;248;p18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502920" y="1965960"/>
            <a:ext cx="160020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1E88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612648" y="217627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88E5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612648" y="2606040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Sense</a:t>
            </a:r>
            <a:endParaRPr/>
          </a:p>
        </p:txBody>
      </p:sp>
      <p:sp>
        <p:nvSpPr>
          <p:cNvPr id="252" name="Google Shape;252;p18"/>
          <p:cNvSpPr txBox="1"/>
          <p:nvPr/>
        </p:nvSpPr>
        <p:spPr>
          <a:xfrm>
            <a:off x="612648" y="31089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Capture data</a:t>
            </a:r>
            <a:endParaRPr/>
          </a:p>
        </p:txBody>
      </p:sp>
      <p:cxnSp>
        <p:nvCxnSpPr>
          <p:cNvPr id="253" name="Google Shape;253;p18"/>
          <p:cNvCxnSpPr/>
          <p:nvPr/>
        </p:nvCxnSpPr>
        <p:spPr>
          <a:xfrm>
            <a:off x="2103120" y="2880360"/>
            <a:ext cx="274319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4" name="Google Shape;254;p18"/>
          <p:cNvSpPr/>
          <p:nvPr/>
        </p:nvSpPr>
        <p:spPr>
          <a:xfrm>
            <a:off x="2441448" y="1965960"/>
            <a:ext cx="160020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8"/>
          <p:cNvSpPr txBox="1"/>
          <p:nvPr/>
        </p:nvSpPr>
        <p:spPr>
          <a:xfrm>
            <a:off x="2551176" y="217627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256" name="Google Shape;256;p18"/>
          <p:cNvSpPr txBox="1"/>
          <p:nvPr/>
        </p:nvSpPr>
        <p:spPr>
          <a:xfrm>
            <a:off x="2551176" y="2606040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Prepare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2551176" y="31089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Filter / normalize</a:t>
            </a:r>
            <a:endParaRPr/>
          </a:p>
        </p:txBody>
      </p:sp>
      <p:cxnSp>
        <p:nvCxnSpPr>
          <p:cNvPr id="258" name="Google Shape;258;p18"/>
          <p:cNvCxnSpPr/>
          <p:nvPr/>
        </p:nvCxnSpPr>
        <p:spPr>
          <a:xfrm>
            <a:off x="4041648" y="2880360"/>
            <a:ext cx="2743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9" name="Google Shape;259;p18"/>
          <p:cNvSpPr/>
          <p:nvPr/>
        </p:nvSpPr>
        <p:spPr>
          <a:xfrm>
            <a:off x="4379976" y="1965960"/>
            <a:ext cx="160020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8"/>
          <p:cNvSpPr txBox="1"/>
          <p:nvPr/>
        </p:nvSpPr>
        <p:spPr>
          <a:xfrm>
            <a:off x="4489704" y="217627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61" name="Google Shape;261;p18"/>
          <p:cNvSpPr txBox="1"/>
          <p:nvPr/>
        </p:nvSpPr>
        <p:spPr>
          <a:xfrm>
            <a:off x="4489704" y="2606040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Infer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4489704" y="31089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Run ML model</a:t>
            </a:r>
            <a:endParaRPr/>
          </a:p>
        </p:txBody>
      </p:sp>
      <p:cxnSp>
        <p:nvCxnSpPr>
          <p:cNvPr id="263" name="Google Shape;263;p18"/>
          <p:cNvCxnSpPr/>
          <p:nvPr/>
        </p:nvCxnSpPr>
        <p:spPr>
          <a:xfrm>
            <a:off x="5980176" y="2880360"/>
            <a:ext cx="2743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4" name="Google Shape;264;p18"/>
          <p:cNvSpPr/>
          <p:nvPr/>
        </p:nvSpPr>
        <p:spPr>
          <a:xfrm>
            <a:off x="6318504" y="1965960"/>
            <a:ext cx="160020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8"/>
          <p:cNvSpPr txBox="1"/>
          <p:nvPr/>
        </p:nvSpPr>
        <p:spPr>
          <a:xfrm>
            <a:off x="6428232" y="217627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66" name="Google Shape;266;p18"/>
          <p:cNvSpPr txBox="1"/>
          <p:nvPr/>
        </p:nvSpPr>
        <p:spPr>
          <a:xfrm>
            <a:off x="6428232" y="2606040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Decide</a:t>
            </a:r>
            <a:endParaRPr/>
          </a:p>
        </p:txBody>
      </p:sp>
      <p:sp>
        <p:nvSpPr>
          <p:cNvPr id="267" name="Google Shape;267;p18"/>
          <p:cNvSpPr txBox="1"/>
          <p:nvPr/>
        </p:nvSpPr>
        <p:spPr>
          <a:xfrm>
            <a:off x="6428232" y="31089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Apply threshold / policy</a:t>
            </a:r>
            <a:endParaRPr/>
          </a:p>
        </p:txBody>
      </p:sp>
      <p:cxnSp>
        <p:nvCxnSpPr>
          <p:cNvPr id="268" name="Google Shape;268;p18"/>
          <p:cNvCxnSpPr/>
          <p:nvPr/>
        </p:nvCxnSpPr>
        <p:spPr>
          <a:xfrm>
            <a:off x="7918704" y="2880360"/>
            <a:ext cx="2743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9" name="Google Shape;269;p18"/>
          <p:cNvSpPr/>
          <p:nvPr/>
        </p:nvSpPr>
        <p:spPr>
          <a:xfrm>
            <a:off x="8257032" y="1965960"/>
            <a:ext cx="160020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8366760" y="217627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71" name="Google Shape;271;p18"/>
          <p:cNvSpPr txBox="1"/>
          <p:nvPr/>
        </p:nvSpPr>
        <p:spPr>
          <a:xfrm>
            <a:off x="8366760" y="2606040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Act</a:t>
            </a:r>
            <a:endParaRPr/>
          </a:p>
        </p:txBody>
      </p:sp>
      <p:sp>
        <p:nvSpPr>
          <p:cNvPr id="272" name="Google Shape;272;p18"/>
          <p:cNvSpPr txBox="1"/>
          <p:nvPr/>
        </p:nvSpPr>
        <p:spPr>
          <a:xfrm>
            <a:off x="8366760" y="31089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Trigger device response</a:t>
            </a:r>
            <a:endParaRPr/>
          </a:p>
        </p:txBody>
      </p:sp>
      <p:cxnSp>
        <p:nvCxnSpPr>
          <p:cNvPr id="273" name="Google Shape;273;p18"/>
          <p:cNvCxnSpPr/>
          <p:nvPr/>
        </p:nvCxnSpPr>
        <p:spPr>
          <a:xfrm>
            <a:off x="9857232" y="2880360"/>
            <a:ext cx="27432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4" name="Google Shape;274;p18"/>
          <p:cNvSpPr/>
          <p:nvPr/>
        </p:nvSpPr>
        <p:spPr>
          <a:xfrm>
            <a:off x="10195560" y="1965960"/>
            <a:ext cx="1600200" cy="18288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0D1B2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 txBox="1"/>
          <p:nvPr/>
        </p:nvSpPr>
        <p:spPr>
          <a:xfrm>
            <a:off x="10305288" y="217627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276" name="Google Shape;276;p18"/>
          <p:cNvSpPr txBox="1"/>
          <p:nvPr/>
        </p:nvSpPr>
        <p:spPr>
          <a:xfrm>
            <a:off x="10305288" y="2606040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Learn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10305288" y="31089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Log &amp; update centrally</a:t>
            </a:r>
            <a:endParaRPr/>
          </a:p>
        </p:txBody>
      </p:sp>
      <p:sp>
        <p:nvSpPr>
          <p:cNvPr id="278" name="Google Shape;278;p18"/>
          <p:cNvSpPr/>
          <p:nvPr/>
        </p:nvSpPr>
        <p:spPr>
          <a:xfrm>
            <a:off x="914400" y="4343400"/>
            <a:ext cx="10241280" cy="96012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914400" y="4343400"/>
            <a:ext cx="73152" cy="96012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8"/>
          <p:cNvSpPr txBox="1"/>
          <p:nvPr/>
        </p:nvSpPr>
        <p:spPr>
          <a:xfrm>
            <a:off x="1115568" y="4507992"/>
            <a:ext cx="989380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1115568" y="4956048"/>
            <a:ext cx="9875519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 smart camera detects an unsafe event locally, decides whether confidence is high enough, then triggers an alarm—without uploading the full video stream.</a:t>
            </a:r>
            <a:endParaRPr/>
          </a:p>
        </p:txBody>
      </p:sp>
      <p:sp>
        <p:nvSpPr>
          <p:cNvPr id="282" name="Google Shape;282;p18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9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Making AI Small Enough for the Edge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Model optimization balances accuracy, latency, memory and energy.</a:t>
            </a:r>
            <a:endParaRPr/>
          </a:p>
        </p:txBody>
      </p:sp>
      <p:sp>
        <p:nvSpPr>
          <p:cNvPr id="290" name="Google Shape;290;p19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9"/>
          <p:cNvSpPr/>
          <p:nvPr/>
        </p:nvSpPr>
        <p:spPr>
          <a:xfrm>
            <a:off x="640080" y="1600200"/>
            <a:ext cx="3429000" cy="1691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/>
          <p:nvPr/>
        </p:nvSpPr>
        <p:spPr>
          <a:xfrm>
            <a:off x="640080" y="1600200"/>
            <a:ext cx="73152" cy="169164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9"/>
          <p:cNvSpPr txBox="1"/>
          <p:nvPr/>
        </p:nvSpPr>
        <p:spPr>
          <a:xfrm>
            <a:off x="841247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Quantization</a:t>
            </a:r>
            <a:endParaRPr/>
          </a:p>
        </p:txBody>
      </p:sp>
      <p:sp>
        <p:nvSpPr>
          <p:cNvPr id="294" name="Google Shape;294;p19"/>
          <p:cNvSpPr txBox="1"/>
          <p:nvPr/>
        </p:nvSpPr>
        <p:spPr>
          <a:xfrm>
            <a:off x="841247" y="2212848"/>
            <a:ext cx="3063240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Represent weights/activations with lower precision such as INT8 to reduce memory and compute.</a:t>
            </a:r>
            <a:endParaRPr/>
          </a:p>
        </p:txBody>
      </p:sp>
      <p:sp>
        <p:nvSpPr>
          <p:cNvPr id="295" name="Google Shape;295;p19"/>
          <p:cNvSpPr/>
          <p:nvPr/>
        </p:nvSpPr>
        <p:spPr>
          <a:xfrm>
            <a:off x="4434840" y="1600200"/>
            <a:ext cx="3429000" cy="1691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9"/>
          <p:cNvSpPr/>
          <p:nvPr/>
        </p:nvSpPr>
        <p:spPr>
          <a:xfrm>
            <a:off x="4434840" y="1600200"/>
            <a:ext cx="73152" cy="169164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9"/>
          <p:cNvSpPr txBox="1"/>
          <p:nvPr/>
        </p:nvSpPr>
        <p:spPr>
          <a:xfrm>
            <a:off x="463600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Pruning</a:t>
            </a:r>
            <a:endParaRPr/>
          </a:p>
        </p:txBody>
      </p:sp>
      <p:sp>
        <p:nvSpPr>
          <p:cNvPr id="298" name="Google Shape;298;p19"/>
          <p:cNvSpPr txBox="1"/>
          <p:nvPr/>
        </p:nvSpPr>
        <p:spPr>
          <a:xfrm>
            <a:off x="4636008" y="2212848"/>
            <a:ext cx="3063240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Remove low-value parameters or connections to reduce model size and operations.</a:t>
            </a:r>
            <a:endParaRPr/>
          </a:p>
        </p:txBody>
      </p:sp>
      <p:sp>
        <p:nvSpPr>
          <p:cNvPr id="299" name="Google Shape;299;p19"/>
          <p:cNvSpPr/>
          <p:nvPr/>
        </p:nvSpPr>
        <p:spPr>
          <a:xfrm>
            <a:off x="8229600" y="1600200"/>
            <a:ext cx="3429000" cy="1691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9"/>
          <p:cNvSpPr/>
          <p:nvPr/>
        </p:nvSpPr>
        <p:spPr>
          <a:xfrm>
            <a:off x="8229600" y="1600200"/>
            <a:ext cx="73152" cy="169164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9"/>
          <p:cNvSpPr txBox="1"/>
          <p:nvPr/>
        </p:nvSpPr>
        <p:spPr>
          <a:xfrm>
            <a:off x="843076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Knowledge Distillation</a:t>
            </a:r>
            <a:endParaRPr/>
          </a:p>
        </p:txBody>
      </p:sp>
      <p:sp>
        <p:nvSpPr>
          <p:cNvPr id="302" name="Google Shape;302;p19"/>
          <p:cNvSpPr txBox="1"/>
          <p:nvPr/>
        </p:nvSpPr>
        <p:spPr>
          <a:xfrm>
            <a:off x="8430768" y="2212848"/>
            <a:ext cx="3063240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Train a smaller student model to reproduce useful behavior from a larger teacher model.</a:t>
            </a:r>
            <a:endParaRPr/>
          </a:p>
        </p:txBody>
      </p:sp>
      <p:sp>
        <p:nvSpPr>
          <p:cNvPr id="303" name="Google Shape;303;p19"/>
          <p:cNvSpPr/>
          <p:nvPr/>
        </p:nvSpPr>
        <p:spPr>
          <a:xfrm>
            <a:off x="640080" y="3611880"/>
            <a:ext cx="3429000" cy="1691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9"/>
          <p:cNvSpPr/>
          <p:nvPr/>
        </p:nvSpPr>
        <p:spPr>
          <a:xfrm>
            <a:off x="640080" y="3611880"/>
            <a:ext cx="73152" cy="16916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841247" y="377647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Hardware Acceleration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841247" y="4224528"/>
            <a:ext cx="3063240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Use GPU/NPU/TPU/AI accelerators to execute supported operations efficiently.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4434840" y="3611880"/>
            <a:ext cx="3429000" cy="1691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/>
          <p:nvPr/>
        </p:nvSpPr>
        <p:spPr>
          <a:xfrm>
            <a:off x="4434840" y="3611880"/>
            <a:ext cx="73152" cy="169164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 txBox="1"/>
          <p:nvPr/>
        </p:nvSpPr>
        <p:spPr>
          <a:xfrm>
            <a:off x="4636008" y="377647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Early Exit / Cascades</a:t>
            </a:r>
            <a:endParaRPr/>
          </a:p>
        </p:txBody>
      </p:sp>
      <p:sp>
        <p:nvSpPr>
          <p:cNvPr id="310" name="Google Shape;310;p19"/>
          <p:cNvSpPr txBox="1"/>
          <p:nvPr/>
        </p:nvSpPr>
        <p:spPr>
          <a:xfrm>
            <a:off x="4636008" y="4224528"/>
            <a:ext cx="3063240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Use a cheap model first; invoke a heavier model only for uncertain cases.</a:t>
            </a:r>
            <a:endParaRPr/>
          </a:p>
        </p:txBody>
      </p:sp>
      <p:sp>
        <p:nvSpPr>
          <p:cNvPr id="311" name="Google Shape;311;p19"/>
          <p:cNvSpPr/>
          <p:nvPr/>
        </p:nvSpPr>
        <p:spPr>
          <a:xfrm>
            <a:off x="8229600" y="3611880"/>
            <a:ext cx="3429000" cy="16916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8229600" y="3611880"/>
            <a:ext cx="73152" cy="16916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8430768" y="377647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Compiler Optimization</a:t>
            </a:r>
            <a:endParaRPr/>
          </a:p>
        </p:txBody>
      </p:sp>
      <p:sp>
        <p:nvSpPr>
          <p:cNvPr id="314" name="Google Shape;314;p19"/>
          <p:cNvSpPr txBox="1"/>
          <p:nvPr/>
        </p:nvSpPr>
        <p:spPr>
          <a:xfrm>
            <a:off x="8430768" y="4224528"/>
            <a:ext cx="3063240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Convert models into hardware-friendly runtimes and optimized kernels.</a:t>
            </a:r>
            <a:endParaRPr/>
          </a:p>
        </p:txBody>
      </p:sp>
      <p:sp>
        <p:nvSpPr>
          <p:cNvPr id="315" name="Google Shape;315;p19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0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Edge AI as an Intelligent Agent</a:t>
            </a:r>
            <a:endParaRPr/>
          </a:p>
        </p:txBody>
      </p:sp>
      <p:sp>
        <p:nvSpPr>
          <p:cNvPr id="322" name="Google Shape;322;p20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Connection to Unit V: perception → reasoning → action under resource constraints.</a:t>
            </a:r>
            <a:endParaRPr/>
          </a:p>
        </p:txBody>
      </p:sp>
      <p:sp>
        <p:nvSpPr>
          <p:cNvPr id="323" name="Google Shape;323;p20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0"/>
          <p:cNvSpPr/>
          <p:nvPr/>
        </p:nvSpPr>
        <p:spPr>
          <a:xfrm>
            <a:off x="731520" y="2148840"/>
            <a:ext cx="1828800" cy="8229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1E88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804672" y="2221992"/>
            <a:ext cx="1682496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Perception</a:t>
            </a:r>
            <a:b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/>
          </a:p>
        </p:txBody>
      </p:sp>
      <p:cxnSp>
        <p:nvCxnSpPr>
          <p:cNvPr id="326" name="Google Shape;326;p20"/>
          <p:cNvCxnSpPr/>
          <p:nvPr/>
        </p:nvCxnSpPr>
        <p:spPr>
          <a:xfrm>
            <a:off x="2560320" y="2560320"/>
            <a:ext cx="77724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7" name="Google Shape;327;p20"/>
          <p:cNvSpPr/>
          <p:nvPr/>
        </p:nvSpPr>
        <p:spPr>
          <a:xfrm>
            <a:off x="3337560" y="2148840"/>
            <a:ext cx="1828800" cy="8229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0"/>
          <p:cNvSpPr txBox="1"/>
          <p:nvPr/>
        </p:nvSpPr>
        <p:spPr>
          <a:xfrm>
            <a:off x="3410712" y="2221992"/>
            <a:ext cx="1682496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Local State</a:t>
            </a:r>
            <a:b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&amp; Context</a:t>
            </a:r>
            <a:endParaRPr/>
          </a:p>
        </p:txBody>
      </p:sp>
      <p:cxnSp>
        <p:nvCxnSpPr>
          <p:cNvPr id="329" name="Google Shape;329;p20"/>
          <p:cNvCxnSpPr/>
          <p:nvPr/>
        </p:nvCxnSpPr>
        <p:spPr>
          <a:xfrm>
            <a:off x="5166360" y="2560320"/>
            <a:ext cx="77724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30" name="Google Shape;330;p20"/>
          <p:cNvSpPr/>
          <p:nvPr/>
        </p:nvSpPr>
        <p:spPr>
          <a:xfrm>
            <a:off x="5943600" y="2148840"/>
            <a:ext cx="1828800" cy="8229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0"/>
          <p:cNvSpPr txBox="1"/>
          <p:nvPr/>
        </p:nvSpPr>
        <p:spPr>
          <a:xfrm>
            <a:off x="6016752" y="2221992"/>
            <a:ext cx="1682496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AI Reasoning</a:t>
            </a:r>
            <a:b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/ Inference</a:t>
            </a:r>
            <a:endParaRPr/>
          </a:p>
        </p:txBody>
      </p:sp>
      <p:cxnSp>
        <p:nvCxnSpPr>
          <p:cNvPr id="332" name="Google Shape;332;p20"/>
          <p:cNvCxnSpPr/>
          <p:nvPr/>
        </p:nvCxnSpPr>
        <p:spPr>
          <a:xfrm>
            <a:off x="7772400" y="2560320"/>
            <a:ext cx="77724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33" name="Google Shape;333;p20"/>
          <p:cNvSpPr/>
          <p:nvPr/>
        </p:nvSpPr>
        <p:spPr>
          <a:xfrm>
            <a:off x="8549640" y="2148840"/>
            <a:ext cx="1828800" cy="8229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 txBox="1"/>
          <p:nvPr/>
        </p:nvSpPr>
        <p:spPr>
          <a:xfrm>
            <a:off x="8622792" y="2221992"/>
            <a:ext cx="1682496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Action</a:t>
            </a:r>
            <a:b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Controller</a:t>
            </a:r>
            <a:endParaRPr/>
          </a:p>
        </p:txBody>
      </p:sp>
      <p:sp>
        <p:nvSpPr>
          <p:cNvPr id="335" name="Google Shape;335;p20"/>
          <p:cNvSpPr/>
          <p:nvPr/>
        </p:nvSpPr>
        <p:spPr>
          <a:xfrm>
            <a:off x="914400" y="3794760"/>
            <a:ext cx="315468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914400" y="3794760"/>
            <a:ext cx="73152" cy="132588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 txBox="1"/>
          <p:nvPr/>
        </p:nvSpPr>
        <p:spPr>
          <a:xfrm>
            <a:off x="1115568" y="3959352"/>
            <a:ext cx="2807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Autonomy</a:t>
            </a:r>
            <a:endParaRPr/>
          </a:p>
        </p:txBody>
      </p:sp>
      <p:sp>
        <p:nvSpPr>
          <p:cNvPr id="338" name="Google Shape;338;p20"/>
          <p:cNvSpPr txBox="1"/>
          <p:nvPr/>
        </p:nvSpPr>
        <p:spPr>
          <a:xfrm>
            <a:off x="1115568" y="4407408"/>
            <a:ext cx="27889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Makes local decisions without a cloud round trip.</a:t>
            </a:r>
            <a:endParaRPr/>
          </a:p>
        </p:txBody>
      </p:sp>
      <p:sp>
        <p:nvSpPr>
          <p:cNvPr id="339" name="Google Shape;339;p20"/>
          <p:cNvSpPr/>
          <p:nvPr/>
        </p:nvSpPr>
        <p:spPr>
          <a:xfrm>
            <a:off x="4526280" y="3794760"/>
            <a:ext cx="315468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4526280" y="3794760"/>
            <a:ext cx="73152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 txBox="1"/>
          <p:nvPr/>
        </p:nvSpPr>
        <p:spPr>
          <a:xfrm>
            <a:off x="4727448" y="3959352"/>
            <a:ext cx="2807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Adaptation</a:t>
            </a:r>
            <a:endParaRPr/>
          </a:p>
        </p:txBody>
      </p:sp>
      <p:sp>
        <p:nvSpPr>
          <p:cNvPr id="342" name="Google Shape;342;p20"/>
          <p:cNvSpPr txBox="1"/>
          <p:nvPr/>
        </p:nvSpPr>
        <p:spPr>
          <a:xfrm>
            <a:off x="4727448" y="4407408"/>
            <a:ext cx="27889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Uses current context and sensor feedback to select actions.</a:t>
            </a:r>
            <a:endParaRPr/>
          </a:p>
        </p:txBody>
      </p:sp>
      <p:sp>
        <p:nvSpPr>
          <p:cNvPr id="343" name="Google Shape;343;p20"/>
          <p:cNvSpPr/>
          <p:nvPr/>
        </p:nvSpPr>
        <p:spPr>
          <a:xfrm>
            <a:off x="8138160" y="3794760"/>
            <a:ext cx="315468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8138160" y="3794760"/>
            <a:ext cx="73152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 txBox="1"/>
          <p:nvPr/>
        </p:nvSpPr>
        <p:spPr>
          <a:xfrm>
            <a:off x="8339328" y="3959352"/>
            <a:ext cx="28072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Coordination</a:t>
            </a:r>
            <a:endParaRPr/>
          </a:p>
        </p:txBody>
      </p:sp>
      <p:sp>
        <p:nvSpPr>
          <p:cNvPr id="346" name="Google Shape;346;p20"/>
          <p:cNvSpPr txBox="1"/>
          <p:nvPr/>
        </p:nvSpPr>
        <p:spPr>
          <a:xfrm>
            <a:off x="8339328" y="4407408"/>
            <a:ext cx="27889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Can exchange summaries/models with nearby or cloud agents.</a:t>
            </a:r>
            <a:endParaRPr/>
          </a:p>
        </p:txBody>
      </p:sp>
      <p:sp>
        <p:nvSpPr>
          <p:cNvPr id="347" name="Google Shape;347;p20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Real-World Applications</a:t>
            </a:r>
            <a:endParaRPr/>
          </a:p>
        </p:txBody>
      </p:sp>
      <p:sp>
        <p:nvSpPr>
          <p:cNvPr id="354" name="Google Shape;354;p21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/>
          <p:nvPr/>
        </p:nvSpPr>
        <p:spPr>
          <a:xfrm>
            <a:off x="640080" y="16002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/>
          <p:nvPr/>
        </p:nvSpPr>
        <p:spPr>
          <a:xfrm>
            <a:off x="640080" y="1600200"/>
            <a:ext cx="73152" cy="17373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1"/>
          <p:cNvSpPr txBox="1"/>
          <p:nvPr/>
        </p:nvSpPr>
        <p:spPr>
          <a:xfrm>
            <a:off x="841247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Smart Healthcare</a:t>
            </a:r>
            <a:endParaRPr/>
          </a:p>
        </p:txBody>
      </p:sp>
      <p:sp>
        <p:nvSpPr>
          <p:cNvPr id="358" name="Google Shape;358;p21"/>
          <p:cNvSpPr txBox="1"/>
          <p:nvPr/>
        </p:nvSpPr>
        <p:spPr>
          <a:xfrm>
            <a:off x="841247" y="22128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Wearables, patient monitoring, privacy-aware analytics</a:t>
            </a:r>
            <a:endParaRPr/>
          </a:p>
        </p:txBody>
      </p:sp>
      <p:sp>
        <p:nvSpPr>
          <p:cNvPr id="359" name="Google Shape;359;p21"/>
          <p:cNvSpPr/>
          <p:nvPr/>
        </p:nvSpPr>
        <p:spPr>
          <a:xfrm>
            <a:off x="4434840" y="16002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1"/>
          <p:cNvSpPr/>
          <p:nvPr/>
        </p:nvSpPr>
        <p:spPr>
          <a:xfrm>
            <a:off x="4434840" y="1600200"/>
            <a:ext cx="73152" cy="173736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1"/>
          <p:cNvSpPr txBox="1"/>
          <p:nvPr/>
        </p:nvSpPr>
        <p:spPr>
          <a:xfrm>
            <a:off x="463600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Smart Cities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4636008" y="22128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Traffic cameras, pedestrian safety, environmental sensing</a:t>
            </a:r>
            <a:endParaRPr/>
          </a:p>
        </p:txBody>
      </p:sp>
      <p:sp>
        <p:nvSpPr>
          <p:cNvPr id="363" name="Google Shape;363;p21"/>
          <p:cNvSpPr/>
          <p:nvPr/>
        </p:nvSpPr>
        <p:spPr>
          <a:xfrm>
            <a:off x="8229600" y="16002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1"/>
          <p:cNvSpPr/>
          <p:nvPr/>
        </p:nvSpPr>
        <p:spPr>
          <a:xfrm>
            <a:off x="8229600" y="1600200"/>
            <a:ext cx="73152" cy="1737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1"/>
          <p:cNvSpPr txBox="1"/>
          <p:nvPr/>
        </p:nvSpPr>
        <p:spPr>
          <a:xfrm>
            <a:off x="843076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Industry 4.0</a:t>
            </a:r>
            <a:endParaRPr/>
          </a:p>
        </p:txBody>
      </p:sp>
      <p:sp>
        <p:nvSpPr>
          <p:cNvPr id="366" name="Google Shape;366;p21"/>
          <p:cNvSpPr txBox="1"/>
          <p:nvPr/>
        </p:nvSpPr>
        <p:spPr>
          <a:xfrm>
            <a:off x="8430768" y="22128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Predictive maintenance, quality inspection, robotics</a:t>
            </a:r>
            <a:endParaRPr/>
          </a:p>
        </p:txBody>
      </p:sp>
      <p:sp>
        <p:nvSpPr>
          <p:cNvPr id="367" name="Google Shape;367;p21"/>
          <p:cNvSpPr/>
          <p:nvPr/>
        </p:nvSpPr>
        <p:spPr>
          <a:xfrm>
            <a:off x="640080" y="36576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1"/>
          <p:cNvSpPr/>
          <p:nvPr/>
        </p:nvSpPr>
        <p:spPr>
          <a:xfrm>
            <a:off x="640080" y="365760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1"/>
          <p:cNvSpPr txBox="1"/>
          <p:nvPr/>
        </p:nvSpPr>
        <p:spPr>
          <a:xfrm>
            <a:off x="841247" y="3822191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Autonomous Systems</a:t>
            </a:r>
            <a:endParaRPr/>
          </a:p>
        </p:txBody>
      </p:sp>
      <p:sp>
        <p:nvSpPr>
          <p:cNvPr id="370" name="Google Shape;370;p21"/>
          <p:cNvSpPr txBox="1"/>
          <p:nvPr/>
        </p:nvSpPr>
        <p:spPr>
          <a:xfrm>
            <a:off x="841247" y="42702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Drones, vehicles, navigation and obstacle detection</a:t>
            </a:r>
            <a:endParaRPr/>
          </a:p>
        </p:txBody>
      </p:sp>
      <p:sp>
        <p:nvSpPr>
          <p:cNvPr id="371" name="Google Shape;371;p21"/>
          <p:cNvSpPr/>
          <p:nvPr/>
        </p:nvSpPr>
        <p:spPr>
          <a:xfrm>
            <a:off x="4434840" y="36576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1"/>
          <p:cNvSpPr/>
          <p:nvPr/>
        </p:nvSpPr>
        <p:spPr>
          <a:xfrm>
            <a:off x="4434840" y="3657600"/>
            <a:ext cx="73152" cy="173736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1"/>
          <p:cNvSpPr txBox="1"/>
          <p:nvPr/>
        </p:nvSpPr>
        <p:spPr>
          <a:xfrm>
            <a:off x="4636008" y="3822191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Retail &amp; Security</a:t>
            </a:r>
            <a:endParaRPr/>
          </a:p>
        </p:txBody>
      </p:sp>
      <p:sp>
        <p:nvSpPr>
          <p:cNvPr id="374" name="Google Shape;374;p21"/>
          <p:cNvSpPr txBox="1"/>
          <p:nvPr/>
        </p:nvSpPr>
        <p:spPr>
          <a:xfrm>
            <a:off x="4636008" y="42702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On-device vision, anomaly detection, access control</a:t>
            </a:r>
            <a:endParaRPr/>
          </a:p>
        </p:txBody>
      </p:sp>
      <p:sp>
        <p:nvSpPr>
          <p:cNvPr id="375" name="Google Shape;375;p21"/>
          <p:cNvSpPr/>
          <p:nvPr/>
        </p:nvSpPr>
        <p:spPr>
          <a:xfrm>
            <a:off x="8229600" y="36576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1"/>
          <p:cNvSpPr/>
          <p:nvPr/>
        </p:nvSpPr>
        <p:spPr>
          <a:xfrm>
            <a:off x="8229600" y="3657600"/>
            <a:ext cx="73152" cy="17373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1"/>
          <p:cNvSpPr txBox="1"/>
          <p:nvPr/>
        </p:nvSpPr>
        <p:spPr>
          <a:xfrm>
            <a:off x="8430768" y="3822191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Agriculture</a:t>
            </a:r>
            <a:endParaRPr/>
          </a:p>
        </p:txBody>
      </p:sp>
      <p:sp>
        <p:nvSpPr>
          <p:cNvPr id="378" name="Google Shape;378;p21"/>
          <p:cNvSpPr txBox="1"/>
          <p:nvPr/>
        </p:nvSpPr>
        <p:spPr>
          <a:xfrm>
            <a:off x="8430768" y="42702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Crop monitoring, disease detection, irrigation decisions</a:t>
            </a:r>
            <a:endParaRPr/>
          </a:p>
        </p:txBody>
      </p:sp>
      <p:sp>
        <p:nvSpPr>
          <p:cNvPr id="379" name="Google Shape;379;p21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Mini Case Study: Smart Camera at the Edge</a:t>
            </a:r>
            <a:endParaRPr/>
          </a:p>
        </p:txBody>
      </p:sp>
      <p:sp>
        <p:nvSpPr>
          <p:cNvPr id="386" name="Google Shape;386;p22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Illustrative engineering design for real-time safety monitoring.</a:t>
            </a:r>
            <a:endParaRPr/>
          </a:p>
        </p:txBody>
      </p:sp>
      <p:sp>
        <p:nvSpPr>
          <p:cNvPr id="387" name="Google Shape;387;p22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2"/>
          <p:cNvSpPr/>
          <p:nvPr/>
        </p:nvSpPr>
        <p:spPr>
          <a:xfrm>
            <a:off x="502920" y="1828800"/>
            <a:ext cx="1828800" cy="10515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1E88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2"/>
          <p:cNvSpPr txBox="1"/>
          <p:nvPr/>
        </p:nvSpPr>
        <p:spPr>
          <a:xfrm>
            <a:off x="576072" y="1901952"/>
            <a:ext cx="1682496" cy="90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Camera</a:t>
            </a:r>
            <a:b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1080p stream</a:t>
            </a:r>
            <a:endParaRPr/>
          </a:p>
        </p:txBody>
      </p:sp>
      <p:cxnSp>
        <p:nvCxnSpPr>
          <p:cNvPr id="390" name="Google Shape;390;p22"/>
          <p:cNvCxnSpPr/>
          <p:nvPr/>
        </p:nvCxnSpPr>
        <p:spPr>
          <a:xfrm>
            <a:off x="2331720" y="2359152"/>
            <a:ext cx="438912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1" name="Google Shape;391;p22"/>
          <p:cNvSpPr/>
          <p:nvPr/>
        </p:nvSpPr>
        <p:spPr>
          <a:xfrm>
            <a:off x="2834639" y="1828800"/>
            <a:ext cx="1828800" cy="10515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2"/>
          <p:cNvSpPr txBox="1"/>
          <p:nvPr/>
        </p:nvSpPr>
        <p:spPr>
          <a:xfrm>
            <a:off x="2907791" y="1901952"/>
            <a:ext cx="1682496" cy="90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Pre-process</a:t>
            </a:r>
            <a:b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Resize / normalize</a:t>
            </a:r>
            <a:endParaRPr/>
          </a:p>
        </p:txBody>
      </p:sp>
      <p:cxnSp>
        <p:nvCxnSpPr>
          <p:cNvPr id="393" name="Google Shape;393;p22"/>
          <p:cNvCxnSpPr/>
          <p:nvPr/>
        </p:nvCxnSpPr>
        <p:spPr>
          <a:xfrm>
            <a:off x="4663440" y="2359152"/>
            <a:ext cx="438912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4" name="Google Shape;394;p22"/>
          <p:cNvSpPr/>
          <p:nvPr/>
        </p:nvSpPr>
        <p:spPr>
          <a:xfrm>
            <a:off x="5166359" y="1828800"/>
            <a:ext cx="1828800" cy="10515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2"/>
          <p:cNvSpPr txBox="1"/>
          <p:nvPr/>
        </p:nvSpPr>
        <p:spPr>
          <a:xfrm>
            <a:off x="5239512" y="1901952"/>
            <a:ext cx="1682496" cy="90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Tiny CNN</a:t>
            </a:r>
            <a:b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Object detection</a:t>
            </a:r>
            <a:endParaRPr/>
          </a:p>
        </p:txBody>
      </p:sp>
      <p:cxnSp>
        <p:nvCxnSpPr>
          <p:cNvPr id="396" name="Google Shape;396;p22"/>
          <p:cNvCxnSpPr/>
          <p:nvPr/>
        </p:nvCxnSpPr>
        <p:spPr>
          <a:xfrm>
            <a:off x="6995159" y="2359152"/>
            <a:ext cx="438912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7" name="Google Shape;397;p22"/>
          <p:cNvSpPr/>
          <p:nvPr/>
        </p:nvSpPr>
        <p:spPr>
          <a:xfrm>
            <a:off x="7498079" y="1828800"/>
            <a:ext cx="1828800" cy="10515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2"/>
          <p:cNvSpPr txBox="1"/>
          <p:nvPr/>
        </p:nvSpPr>
        <p:spPr>
          <a:xfrm>
            <a:off x="7571231" y="1901952"/>
            <a:ext cx="1682496" cy="90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Decision</a:t>
            </a:r>
            <a:b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Confidence &gt; τ</a:t>
            </a:r>
            <a:endParaRPr/>
          </a:p>
        </p:txBody>
      </p:sp>
      <p:cxnSp>
        <p:nvCxnSpPr>
          <p:cNvPr id="399" name="Google Shape;399;p22"/>
          <p:cNvCxnSpPr/>
          <p:nvPr/>
        </p:nvCxnSpPr>
        <p:spPr>
          <a:xfrm>
            <a:off x="9326880" y="2359152"/>
            <a:ext cx="438912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0" name="Google Shape;400;p22"/>
          <p:cNvSpPr/>
          <p:nvPr/>
        </p:nvSpPr>
        <p:spPr>
          <a:xfrm>
            <a:off x="9829800" y="1828800"/>
            <a:ext cx="1828800" cy="10515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2"/>
          <p:cNvSpPr txBox="1"/>
          <p:nvPr/>
        </p:nvSpPr>
        <p:spPr>
          <a:xfrm>
            <a:off x="9902952" y="1901952"/>
            <a:ext cx="1682496" cy="90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Alarm</a:t>
            </a:r>
            <a:b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Local actuator</a:t>
            </a:r>
            <a:endParaRPr/>
          </a:p>
        </p:txBody>
      </p:sp>
      <p:sp>
        <p:nvSpPr>
          <p:cNvPr id="402" name="Google Shape;402;p22"/>
          <p:cNvSpPr/>
          <p:nvPr/>
        </p:nvSpPr>
        <p:spPr>
          <a:xfrm>
            <a:off x="731520" y="3794760"/>
            <a:ext cx="3383280" cy="1234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2"/>
          <p:cNvSpPr/>
          <p:nvPr/>
        </p:nvSpPr>
        <p:spPr>
          <a:xfrm>
            <a:off x="731520" y="3794760"/>
            <a:ext cx="73152" cy="123444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932688" y="3959352"/>
            <a:ext cx="3035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Design Goal</a:t>
            </a:r>
            <a:endParaRPr/>
          </a:p>
        </p:txBody>
      </p:sp>
      <p:sp>
        <p:nvSpPr>
          <p:cNvPr id="405" name="Google Shape;405;p22"/>
          <p:cNvSpPr txBox="1"/>
          <p:nvPr/>
        </p:nvSpPr>
        <p:spPr>
          <a:xfrm>
            <a:off x="932688" y="4407408"/>
            <a:ext cx="3017520" cy="484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Minimize response time while keeping video local whenever possible.</a:t>
            </a:r>
            <a:endParaRPr/>
          </a:p>
        </p:txBody>
      </p:sp>
      <p:sp>
        <p:nvSpPr>
          <p:cNvPr id="406" name="Google Shape;406;p22"/>
          <p:cNvSpPr/>
          <p:nvPr/>
        </p:nvSpPr>
        <p:spPr>
          <a:xfrm>
            <a:off x="4389120" y="3794760"/>
            <a:ext cx="3383280" cy="1234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2"/>
          <p:cNvSpPr/>
          <p:nvPr/>
        </p:nvSpPr>
        <p:spPr>
          <a:xfrm>
            <a:off x="4389120" y="3794760"/>
            <a:ext cx="73152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4590288" y="3959352"/>
            <a:ext cx="3035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Metrics</a:t>
            </a:r>
            <a:endParaRPr/>
          </a:p>
        </p:txBody>
      </p:sp>
      <p:sp>
        <p:nvSpPr>
          <p:cNvPr id="409" name="Google Shape;409;p22"/>
          <p:cNvSpPr txBox="1"/>
          <p:nvPr/>
        </p:nvSpPr>
        <p:spPr>
          <a:xfrm>
            <a:off x="4590288" y="4407408"/>
            <a:ext cx="3017520" cy="484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Latency • FPS • accuracy • RAM • power • false alarms</a:t>
            </a:r>
            <a:endParaRPr/>
          </a:p>
        </p:txBody>
      </p:sp>
      <p:sp>
        <p:nvSpPr>
          <p:cNvPr id="410" name="Google Shape;410;p22"/>
          <p:cNvSpPr/>
          <p:nvPr/>
        </p:nvSpPr>
        <p:spPr>
          <a:xfrm>
            <a:off x="8046720" y="3794760"/>
            <a:ext cx="3383280" cy="1234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2"/>
          <p:cNvSpPr/>
          <p:nvPr/>
        </p:nvSpPr>
        <p:spPr>
          <a:xfrm>
            <a:off x="8046720" y="379476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8247888" y="3959352"/>
            <a:ext cx="3035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Engineering Trade-off</a:t>
            </a:r>
            <a:endParaRPr/>
          </a:p>
        </p:txBody>
      </p:sp>
      <p:sp>
        <p:nvSpPr>
          <p:cNvPr id="413" name="Google Shape;413;p22"/>
          <p:cNvSpPr txBox="1"/>
          <p:nvPr/>
        </p:nvSpPr>
        <p:spPr>
          <a:xfrm>
            <a:off x="8247888" y="4407408"/>
            <a:ext cx="3017520" cy="484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 smaller model may be faster but can reduce detection accuracy.</a:t>
            </a:r>
            <a:endParaRPr/>
          </a:p>
        </p:txBody>
      </p:sp>
      <p:sp>
        <p:nvSpPr>
          <p:cNvPr id="414" name="Google Shape;414;p22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Security, Privacy &amp; Reliability</a:t>
            </a:r>
            <a:endParaRPr/>
          </a:p>
        </p:txBody>
      </p:sp>
      <p:sp>
        <p:nvSpPr>
          <p:cNvPr id="421" name="Google Shape;421;p23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Moving AI to the edge reduces some risks—but introduces new attack surfaces.</a:t>
            </a:r>
            <a:endParaRPr/>
          </a:p>
        </p:txBody>
      </p:sp>
      <p:sp>
        <p:nvSpPr>
          <p:cNvPr id="422" name="Google Shape;422;p23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3"/>
          <p:cNvSpPr/>
          <p:nvPr/>
        </p:nvSpPr>
        <p:spPr>
          <a:xfrm>
            <a:off x="640080" y="155448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3"/>
          <p:cNvSpPr/>
          <p:nvPr/>
        </p:nvSpPr>
        <p:spPr>
          <a:xfrm>
            <a:off x="640080" y="155448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841247" y="171907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Privacy</a:t>
            </a:r>
            <a:endParaRPr/>
          </a:p>
        </p:txBody>
      </p:sp>
      <p:sp>
        <p:nvSpPr>
          <p:cNvPr id="426" name="Google Shape;426;p23"/>
          <p:cNvSpPr txBox="1"/>
          <p:nvPr/>
        </p:nvSpPr>
        <p:spPr>
          <a:xfrm>
            <a:off x="841247" y="2167128"/>
            <a:ext cx="3063240" cy="75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Raw sensor data can remain local; only events, embeddings or summaries may be shared.</a:t>
            </a:r>
            <a:endParaRPr/>
          </a:p>
        </p:txBody>
      </p:sp>
      <p:sp>
        <p:nvSpPr>
          <p:cNvPr id="427" name="Google Shape;427;p23"/>
          <p:cNvSpPr/>
          <p:nvPr/>
        </p:nvSpPr>
        <p:spPr>
          <a:xfrm>
            <a:off x="4389120" y="155448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3"/>
          <p:cNvSpPr/>
          <p:nvPr/>
        </p:nvSpPr>
        <p:spPr>
          <a:xfrm>
            <a:off x="4389120" y="1554480"/>
            <a:ext cx="73152" cy="1508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4590288" y="171907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Model Security</a:t>
            </a:r>
            <a:endParaRPr/>
          </a:p>
        </p:txBody>
      </p:sp>
      <p:sp>
        <p:nvSpPr>
          <p:cNvPr id="430" name="Google Shape;430;p23"/>
          <p:cNvSpPr txBox="1"/>
          <p:nvPr/>
        </p:nvSpPr>
        <p:spPr>
          <a:xfrm>
            <a:off x="4590288" y="2167128"/>
            <a:ext cx="3063240" cy="75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Protect model files, keys and update channels from tampering and extraction.</a:t>
            </a:r>
            <a:endParaRPr/>
          </a:p>
        </p:txBody>
      </p:sp>
      <p:sp>
        <p:nvSpPr>
          <p:cNvPr id="431" name="Google Shape;431;p23"/>
          <p:cNvSpPr/>
          <p:nvPr/>
        </p:nvSpPr>
        <p:spPr>
          <a:xfrm>
            <a:off x="8138160" y="155448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3"/>
          <p:cNvSpPr/>
          <p:nvPr/>
        </p:nvSpPr>
        <p:spPr>
          <a:xfrm>
            <a:off x="8138160" y="1554480"/>
            <a:ext cx="73152" cy="150876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3"/>
          <p:cNvSpPr txBox="1"/>
          <p:nvPr/>
        </p:nvSpPr>
        <p:spPr>
          <a:xfrm>
            <a:off x="8339328" y="171907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Device Security</a:t>
            </a:r>
            <a:endParaRPr/>
          </a:p>
        </p:txBody>
      </p:sp>
      <p:sp>
        <p:nvSpPr>
          <p:cNvPr id="434" name="Google Shape;434;p23"/>
          <p:cNvSpPr txBox="1"/>
          <p:nvPr/>
        </p:nvSpPr>
        <p:spPr>
          <a:xfrm>
            <a:off x="8339328" y="2167128"/>
            <a:ext cx="3063240" cy="75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Secure boot, hardware roots of trust and access control protect the edge node.</a:t>
            </a:r>
            <a:endParaRPr/>
          </a:p>
        </p:txBody>
      </p:sp>
      <p:sp>
        <p:nvSpPr>
          <p:cNvPr id="435" name="Google Shape;435;p23"/>
          <p:cNvSpPr/>
          <p:nvPr/>
        </p:nvSpPr>
        <p:spPr>
          <a:xfrm>
            <a:off x="640080" y="342900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3"/>
          <p:cNvSpPr/>
          <p:nvPr/>
        </p:nvSpPr>
        <p:spPr>
          <a:xfrm>
            <a:off x="640080" y="3429000"/>
            <a:ext cx="73152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3"/>
          <p:cNvSpPr txBox="1"/>
          <p:nvPr/>
        </p:nvSpPr>
        <p:spPr>
          <a:xfrm>
            <a:off x="841247" y="35935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Adversarial Inputs</a:t>
            </a:r>
            <a:endParaRPr/>
          </a:p>
        </p:txBody>
      </p:sp>
      <p:sp>
        <p:nvSpPr>
          <p:cNvPr id="438" name="Google Shape;438;p23"/>
          <p:cNvSpPr txBox="1"/>
          <p:nvPr/>
        </p:nvSpPr>
        <p:spPr>
          <a:xfrm>
            <a:off x="841247" y="4041648"/>
            <a:ext cx="3063240" cy="75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Attackers may manipulate sensor inputs or exploit model weaknesses.</a:t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4389120" y="342900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3"/>
          <p:cNvSpPr/>
          <p:nvPr/>
        </p:nvSpPr>
        <p:spPr>
          <a:xfrm>
            <a:off x="4389120" y="3429000"/>
            <a:ext cx="73152" cy="150876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 txBox="1"/>
          <p:nvPr/>
        </p:nvSpPr>
        <p:spPr>
          <a:xfrm>
            <a:off x="4590288" y="35935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Fleet Management</a:t>
            </a:r>
            <a:endParaRPr/>
          </a:p>
        </p:txBody>
      </p:sp>
      <p:sp>
        <p:nvSpPr>
          <p:cNvPr id="442" name="Google Shape;442;p23"/>
          <p:cNvSpPr txBox="1"/>
          <p:nvPr/>
        </p:nvSpPr>
        <p:spPr>
          <a:xfrm>
            <a:off x="4590288" y="4041648"/>
            <a:ext cx="3063240" cy="75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Thousands of devices need safe model updates, monitoring and rollback.</a:t>
            </a:r>
            <a:endParaRPr/>
          </a:p>
        </p:txBody>
      </p:sp>
      <p:sp>
        <p:nvSpPr>
          <p:cNvPr id="443" name="Google Shape;443;p23"/>
          <p:cNvSpPr/>
          <p:nvPr/>
        </p:nvSpPr>
        <p:spPr>
          <a:xfrm>
            <a:off x="8138160" y="342900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3"/>
          <p:cNvSpPr/>
          <p:nvPr/>
        </p:nvSpPr>
        <p:spPr>
          <a:xfrm>
            <a:off x="8138160" y="3429000"/>
            <a:ext cx="73152" cy="15087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 txBox="1"/>
          <p:nvPr/>
        </p:nvSpPr>
        <p:spPr>
          <a:xfrm>
            <a:off x="8339328" y="35935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Resilience</a:t>
            </a:r>
            <a:endParaRPr/>
          </a:p>
        </p:txBody>
      </p:sp>
      <p:sp>
        <p:nvSpPr>
          <p:cNvPr id="446" name="Google Shape;446;p23"/>
          <p:cNvSpPr txBox="1"/>
          <p:nvPr/>
        </p:nvSpPr>
        <p:spPr>
          <a:xfrm>
            <a:off x="8339328" y="4041648"/>
            <a:ext cx="3063240" cy="75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Local operation can improve availability during intermittent connectivity.</a:t>
            </a:r>
            <a:endParaRPr/>
          </a:p>
        </p:txBody>
      </p:sp>
      <p:sp>
        <p:nvSpPr>
          <p:cNvPr id="447" name="Google Shape;447;p23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4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Advantages &amp; Limitations</a:t>
            </a:r>
            <a:endParaRPr/>
          </a:p>
        </p:txBody>
      </p:sp>
      <p:sp>
        <p:nvSpPr>
          <p:cNvPr id="454" name="Google Shape;454;p24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4"/>
          <p:cNvSpPr/>
          <p:nvPr/>
        </p:nvSpPr>
        <p:spPr>
          <a:xfrm>
            <a:off x="685800" y="1600200"/>
            <a:ext cx="5257800" cy="35661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4"/>
          <p:cNvSpPr/>
          <p:nvPr/>
        </p:nvSpPr>
        <p:spPr>
          <a:xfrm>
            <a:off x="685800" y="1600200"/>
            <a:ext cx="73152" cy="35661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4"/>
          <p:cNvSpPr txBox="1"/>
          <p:nvPr/>
        </p:nvSpPr>
        <p:spPr>
          <a:xfrm>
            <a:off x="886968" y="1764792"/>
            <a:ext cx="49103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Advantages</a:t>
            </a:r>
            <a:endParaRPr/>
          </a:p>
        </p:txBody>
      </p:sp>
      <p:sp>
        <p:nvSpPr>
          <p:cNvPr id="458" name="Google Shape;458;p24"/>
          <p:cNvSpPr txBox="1"/>
          <p:nvPr/>
        </p:nvSpPr>
        <p:spPr>
          <a:xfrm>
            <a:off x="886968" y="2212848"/>
            <a:ext cx="4892040" cy="2816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Lower latency for time-critical decisions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Reduced bandwidth consumption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Better data locality and privacy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More resilient operation with weak connectivity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Scalable distributed intelligence</a:t>
            </a:r>
            <a:endParaRPr/>
          </a:p>
        </p:txBody>
      </p:sp>
      <p:sp>
        <p:nvSpPr>
          <p:cNvPr id="459" name="Google Shape;459;p24"/>
          <p:cNvSpPr/>
          <p:nvPr/>
        </p:nvSpPr>
        <p:spPr>
          <a:xfrm>
            <a:off x="6263640" y="1600200"/>
            <a:ext cx="5257800" cy="35661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4"/>
          <p:cNvSpPr/>
          <p:nvPr/>
        </p:nvSpPr>
        <p:spPr>
          <a:xfrm>
            <a:off x="6263640" y="1600200"/>
            <a:ext cx="73152" cy="35661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4"/>
          <p:cNvSpPr txBox="1"/>
          <p:nvPr/>
        </p:nvSpPr>
        <p:spPr>
          <a:xfrm>
            <a:off x="6464807" y="1764792"/>
            <a:ext cx="49103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/>
          </a:p>
        </p:txBody>
      </p:sp>
      <p:sp>
        <p:nvSpPr>
          <p:cNvPr id="462" name="Google Shape;462;p24"/>
          <p:cNvSpPr txBox="1"/>
          <p:nvPr/>
        </p:nvSpPr>
        <p:spPr>
          <a:xfrm>
            <a:off x="6464807" y="2212848"/>
            <a:ext cx="4892040" cy="2816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Limited CPU/GPU/NPU, memory and battery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Model updates are harder across large fleets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Hardware heterogeneity complicates deployment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Local devices can be physically attacked</a:t>
            </a:r>
            <a:b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Accuracy–latency–energy trade-offs must be managed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Future Direction</a:t>
            </a:r>
            <a:endParaRPr/>
          </a:p>
        </p:txBody>
      </p:sp>
      <p:sp>
        <p:nvSpPr>
          <p:cNvPr id="470" name="Google Shape;470;p25"/>
          <p:cNvSpPr txBox="1"/>
          <p:nvPr/>
        </p:nvSpPr>
        <p:spPr>
          <a:xfrm>
            <a:off x="612648" y="8686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Where Edge Intelligence is heading.</a:t>
            </a:r>
            <a:endParaRPr/>
          </a:p>
        </p:txBody>
      </p:sp>
      <p:sp>
        <p:nvSpPr>
          <p:cNvPr id="471" name="Google Shape;471;p25"/>
          <p:cNvSpPr/>
          <p:nvPr/>
        </p:nvSpPr>
        <p:spPr>
          <a:xfrm>
            <a:off x="594360" y="1261872"/>
            <a:ext cx="10972800" cy="32004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/>
          <p:nvPr/>
        </p:nvSpPr>
        <p:spPr>
          <a:xfrm>
            <a:off x="685800" y="16002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5"/>
          <p:cNvSpPr/>
          <p:nvPr/>
        </p:nvSpPr>
        <p:spPr>
          <a:xfrm>
            <a:off x="685800" y="1600200"/>
            <a:ext cx="73152" cy="1737360"/>
          </a:xfrm>
          <a:prstGeom prst="rect">
            <a:avLst/>
          </a:prstGeom>
          <a:solidFill>
            <a:srgbClr val="1E88E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5"/>
          <p:cNvSpPr txBox="1"/>
          <p:nvPr/>
        </p:nvSpPr>
        <p:spPr>
          <a:xfrm>
            <a:off x="88696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On-device Generative AI</a:t>
            </a:r>
            <a:endParaRPr/>
          </a:p>
        </p:txBody>
      </p:sp>
      <p:sp>
        <p:nvSpPr>
          <p:cNvPr id="475" name="Google Shape;475;p25"/>
          <p:cNvSpPr txBox="1"/>
          <p:nvPr/>
        </p:nvSpPr>
        <p:spPr>
          <a:xfrm>
            <a:off x="886968" y="22128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Smaller language/vision models running locally</a:t>
            </a:r>
            <a:endParaRPr/>
          </a:p>
        </p:txBody>
      </p:sp>
      <p:sp>
        <p:nvSpPr>
          <p:cNvPr id="476" name="Google Shape;476;p25"/>
          <p:cNvSpPr/>
          <p:nvPr/>
        </p:nvSpPr>
        <p:spPr>
          <a:xfrm>
            <a:off x="4480560" y="16002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5"/>
          <p:cNvSpPr/>
          <p:nvPr/>
        </p:nvSpPr>
        <p:spPr>
          <a:xfrm>
            <a:off x="4480560" y="1600200"/>
            <a:ext cx="73152" cy="173736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5"/>
          <p:cNvSpPr txBox="1"/>
          <p:nvPr/>
        </p:nvSpPr>
        <p:spPr>
          <a:xfrm>
            <a:off x="468172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Federated Learning</a:t>
            </a:r>
            <a:endParaRPr/>
          </a:p>
        </p:txBody>
      </p:sp>
      <p:sp>
        <p:nvSpPr>
          <p:cNvPr id="479" name="Google Shape;479;p25"/>
          <p:cNvSpPr txBox="1"/>
          <p:nvPr/>
        </p:nvSpPr>
        <p:spPr>
          <a:xfrm>
            <a:off x="4681728" y="22128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Collaborative model improvement without centralizing raw data</a:t>
            </a:r>
            <a:endParaRPr/>
          </a:p>
        </p:txBody>
      </p:sp>
      <p:sp>
        <p:nvSpPr>
          <p:cNvPr id="480" name="Google Shape;480;p25"/>
          <p:cNvSpPr/>
          <p:nvPr/>
        </p:nvSpPr>
        <p:spPr>
          <a:xfrm>
            <a:off x="8275320" y="16002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5"/>
          <p:cNvSpPr/>
          <p:nvPr/>
        </p:nvSpPr>
        <p:spPr>
          <a:xfrm>
            <a:off x="8275320" y="160020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5"/>
          <p:cNvSpPr txBox="1"/>
          <p:nvPr/>
        </p:nvSpPr>
        <p:spPr>
          <a:xfrm>
            <a:off x="8476488" y="1764792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6G + Edge AI</a:t>
            </a:r>
            <a:endParaRPr/>
          </a:p>
        </p:txBody>
      </p:sp>
      <p:sp>
        <p:nvSpPr>
          <p:cNvPr id="483" name="Google Shape;483;p25"/>
          <p:cNvSpPr txBox="1"/>
          <p:nvPr/>
        </p:nvSpPr>
        <p:spPr>
          <a:xfrm>
            <a:off x="8476488" y="22128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Ultra-low-latency connectivity and distributed intelligence</a:t>
            </a:r>
            <a:endParaRPr/>
          </a:p>
        </p:txBody>
      </p:sp>
      <p:sp>
        <p:nvSpPr>
          <p:cNvPr id="484" name="Google Shape;484;p25"/>
          <p:cNvSpPr/>
          <p:nvPr/>
        </p:nvSpPr>
        <p:spPr>
          <a:xfrm>
            <a:off x="685800" y="36576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5"/>
          <p:cNvSpPr/>
          <p:nvPr/>
        </p:nvSpPr>
        <p:spPr>
          <a:xfrm>
            <a:off x="685800" y="3657600"/>
            <a:ext cx="73152" cy="173736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5"/>
          <p:cNvSpPr txBox="1"/>
          <p:nvPr/>
        </p:nvSpPr>
        <p:spPr>
          <a:xfrm>
            <a:off x="886968" y="3822191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AI Accelerators</a:t>
            </a:r>
            <a:endParaRPr/>
          </a:p>
        </p:txBody>
      </p:sp>
      <p:sp>
        <p:nvSpPr>
          <p:cNvPr id="487" name="Google Shape;487;p25"/>
          <p:cNvSpPr txBox="1"/>
          <p:nvPr/>
        </p:nvSpPr>
        <p:spPr>
          <a:xfrm>
            <a:off x="886968" y="42702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Dedicated NPUs and energy-efficient heterogeneous compute</a:t>
            </a:r>
            <a:endParaRPr/>
          </a:p>
        </p:txBody>
      </p:sp>
      <p:sp>
        <p:nvSpPr>
          <p:cNvPr id="488" name="Google Shape;488;p25"/>
          <p:cNvSpPr/>
          <p:nvPr/>
        </p:nvSpPr>
        <p:spPr>
          <a:xfrm>
            <a:off x="4480560" y="36576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5"/>
          <p:cNvSpPr/>
          <p:nvPr/>
        </p:nvSpPr>
        <p:spPr>
          <a:xfrm>
            <a:off x="4480560" y="3657600"/>
            <a:ext cx="73152" cy="17373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5"/>
          <p:cNvSpPr txBox="1"/>
          <p:nvPr/>
        </p:nvSpPr>
        <p:spPr>
          <a:xfrm>
            <a:off x="4681728" y="3822191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Agentic Edge Systems</a:t>
            </a:r>
            <a:endParaRPr/>
          </a:p>
        </p:txBody>
      </p:sp>
      <p:sp>
        <p:nvSpPr>
          <p:cNvPr id="491" name="Google Shape;491;p25"/>
          <p:cNvSpPr txBox="1"/>
          <p:nvPr/>
        </p:nvSpPr>
        <p:spPr>
          <a:xfrm>
            <a:off x="4681728" y="42702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Multiple local agents planning, coordinating and acting</a:t>
            </a:r>
            <a:endParaRPr/>
          </a:p>
        </p:txBody>
      </p:sp>
      <p:sp>
        <p:nvSpPr>
          <p:cNvPr id="492" name="Google Shape;492;p25"/>
          <p:cNvSpPr/>
          <p:nvPr/>
        </p:nvSpPr>
        <p:spPr>
          <a:xfrm>
            <a:off x="8275320" y="3657600"/>
            <a:ext cx="3429000" cy="173736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5"/>
          <p:cNvSpPr/>
          <p:nvPr/>
        </p:nvSpPr>
        <p:spPr>
          <a:xfrm>
            <a:off x="8275320" y="3657600"/>
            <a:ext cx="73152" cy="17373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25"/>
          <p:cNvSpPr txBox="1"/>
          <p:nvPr/>
        </p:nvSpPr>
        <p:spPr>
          <a:xfrm>
            <a:off x="8476488" y="3822191"/>
            <a:ext cx="30815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Sustainable Edge AI</a:t>
            </a:r>
            <a:endParaRPr/>
          </a:p>
        </p:txBody>
      </p:sp>
      <p:sp>
        <p:nvSpPr>
          <p:cNvPr id="495" name="Google Shape;495;p25"/>
          <p:cNvSpPr txBox="1"/>
          <p:nvPr/>
        </p:nvSpPr>
        <p:spPr>
          <a:xfrm>
            <a:off x="8476488" y="4270248"/>
            <a:ext cx="3063240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Optimize accuracy per watt, not accuracy alone</a:t>
            </a:r>
            <a:endParaRPr/>
          </a:p>
        </p:txBody>
      </p:sp>
      <p:sp>
        <p:nvSpPr>
          <p:cNvPr id="496" name="Google Shape;496;p25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6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Key Takeaways</a:t>
            </a:r>
            <a:endParaRPr/>
          </a:p>
        </p:txBody>
      </p:sp>
      <p:sp>
        <p:nvSpPr>
          <p:cNvPr id="503" name="Google Shape;503;p26"/>
          <p:cNvSpPr/>
          <p:nvPr/>
        </p:nvSpPr>
        <p:spPr>
          <a:xfrm>
            <a:off x="731520" y="1261872"/>
            <a:ext cx="10789920" cy="36576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6"/>
          <p:cNvSpPr/>
          <p:nvPr/>
        </p:nvSpPr>
        <p:spPr>
          <a:xfrm>
            <a:off x="822960" y="1645920"/>
            <a:ext cx="411480" cy="41148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6"/>
          <p:cNvSpPr txBox="1"/>
          <p:nvPr/>
        </p:nvSpPr>
        <p:spPr>
          <a:xfrm>
            <a:off x="941832" y="172821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506" name="Google Shape;506;p26"/>
          <p:cNvSpPr txBox="1"/>
          <p:nvPr/>
        </p:nvSpPr>
        <p:spPr>
          <a:xfrm>
            <a:off x="1463040" y="1627632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Edge AI places intelligence close to where data is generated.</a:t>
            </a:r>
            <a:endParaRPr/>
          </a:p>
        </p:txBody>
      </p:sp>
      <p:sp>
        <p:nvSpPr>
          <p:cNvPr id="507" name="Google Shape;507;p26"/>
          <p:cNvSpPr/>
          <p:nvPr/>
        </p:nvSpPr>
        <p:spPr>
          <a:xfrm>
            <a:off x="822960" y="2423160"/>
            <a:ext cx="411480" cy="41148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26"/>
          <p:cNvSpPr txBox="1"/>
          <p:nvPr/>
        </p:nvSpPr>
        <p:spPr>
          <a:xfrm>
            <a:off x="941832" y="25054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509" name="Google Shape;509;p26"/>
          <p:cNvSpPr txBox="1"/>
          <p:nvPr/>
        </p:nvSpPr>
        <p:spPr>
          <a:xfrm>
            <a:off x="1463040" y="2404872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It improves responsiveness, bandwidth efficiency and data locality.</a:t>
            </a:r>
            <a:endParaRPr/>
          </a:p>
        </p:txBody>
      </p:sp>
      <p:sp>
        <p:nvSpPr>
          <p:cNvPr id="510" name="Google Shape;510;p26"/>
          <p:cNvSpPr/>
          <p:nvPr/>
        </p:nvSpPr>
        <p:spPr>
          <a:xfrm>
            <a:off x="822960" y="3200400"/>
            <a:ext cx="411480" cy="41148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6"/>
          <p:cNvSpPr txBox="1"/>
          <p:nvPr/>
        </p:nvSpPr>
        <p:spPr>
          <a:xfrm>
            <a:off x="941832" y="328269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512" name="Google Shape;512;p26"/>
          <p:cNvSpPr txBox="1"/>
          <p:nvPr/>
        </p:nvSpPr>
        <p:spPr>
          <a:xfrm>
            <a:off x="1463040" y="3182112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Successful deployment depends on model optimization and hardware awareness.</a:t>
            </a:r>
            <a:endParaRPr/>
          </a:p>
        </p:txBody>
      </p:sp>
      <p:sp>
        <p:nvSpPr>
          <p:cNvPr id="513" name="Google Shape;513;p26"/>
          <p:cNvSpPr/>
          <p:nvPr/>
        </p:nvSpPr>
        <p:spPr>
          <a:xfrm>
            <a:off x="822960" y="3977639"/>
            <a:ext cx="411480" cy="41148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26"/>
          <p:cNvSpPr txBox="1"/>
          <p:nvPr/>
        </p:nvSpPr>
        <p:spPr>
          <a:xfrm>
            <a:off x="941832" y="4059935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515" name="Google Shape;515;p26"/>
          <p:cNvSpPr txBox="1"/>
          <p:nvPr/>
        </p:nvSpPr>
        <p:spPr>
          <a:xfrm>
            <a:off x="1463040" y="3959352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Security, fleet management and energy efficiency are first-class engineering concerns.</a:t>
            </a:r>
            <a:endParaRPr/>
          </a:p>
        </p:txBody>
      </p:sp>
      <p:sp>
        <p:nvSpPr>
          <p:cNvPr id="516" name="Google Shape;516;p26"/>
          <p:cNvSpPr/>
          <p:nvPr/>
        </p:nvSpPr>
        <p:spPr>
          <a:xfrm>
            <a:off x="822960" y="4754880"/>
            <a:ext cx="411480" cy="411480"/>
          </a:xfrm>
          <a:prstGeom prst="ellipse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6"/>
          <p:cNvSpPr txBox="1"/>
          <p:nvPr/>
        </p:nvSpPr>
        <p:spPr>
          <a:xfrm>
            <a:off x="941832" y="483717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518" name="Google Shape;518;p26"/>
          <p:cNvSpPr txBox="1"/>
          <p:nvPr/>
        </p:nvSpPr>
        <p:spPr>
          <a:xfrm>
            <a:off x="1463040" y="4736592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The future is hybrid: edge devices, edge servers and cloud systems working together.</a:t>
            </a:r>
            <a:endParaRPr/>
          </a:p>
        </p:txBody>
      </p:sp>
      <p:sp>
        <p:nvSpPr>
          <p:cNvPr id="519" name="Google Shape;519;p26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C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7"/>
          <p:cNvSpPr txBox="1"/>
          <p:nvPr/>
        </p:nvSpPr>
        <p:spPr>
          <a:xfrm>
            <a:off x="594360" y="621792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Play"/>
                <a:ea typeface="Play"/>
                <a:cs typeface="Play"/>
                <a:sym typeface="Play"/>
              </a:rPr>
              <a:t>References — IEEE Papers (2022–2026)</a:t>
            </a:r>
            <a:endParaRPr/>
          </a:p>
        </p:txBody>
      </p:sp>
      <p:sp>
        <p:nvSpPr>
          <p:cNvPr id="525" name="Google Shape;525;p27"/>
          <p:cNvSpPr txBox="1"/>
          <p:nvPr/>
        </p:nvSpPr>
        <p:spPr>
          <a:xfrm>
            <a:off x="612648" y="1143000"/>
            <a:ext cx="10789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APA-style entries; selected for technical relevance and searchable in Google Scholar.</a:t>
            </a:r>
            <a:endParaRPr/>
          </a:p>
        </p:txBody>
      </p:sp>
      <p:sp>
        <p:nvSpPr>
          <p:cNvPr id="526" name="Google Shape;526;p27"/>
          <p:cNvSpPr/>
          <p:nvPr/>
        </p:nvSpPr>
        <p:spPr>
          <a:xfrm>
            <a:off x="594360" y="1536192"/>
            <a:ext cx="10972800" cy="32100"/>
          </a:xfrm>
          <a:prstGeom prst="rect">
            <a:avLst/>
          </a:prstGeom>
          <a:solidFill>
            <a:srgbClr val="00BCD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7"/>
          <p:cNvSpPr txBox="1"/>
          <p:nvPr/>
        </p:nvSpPr>
        <p:spPr>
          <a:xfrm>
            <a:off x="658368" y="1755648"/>
            <a:ext cx="10927200" cy="25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[1] Peltonen, E., Ahmad, I., Aral, A., Capobianco, M., Ding, A. Y., et al. (2022). The many faces of edge intelligence. IEEE Access, 10, 104769–104782. https://doi.org/10.1109/ACCESS.2022.3210584</a:t>
            </a:r>
            <a:endParaRPr sz="1200"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[2] Badidi, E., Moumane, K., &amp; El Ghazi, F. (2023). Opportunities, applications, and challenges of Edge-AI enabled video analytics in smart cities: A systematic review. IEEE Access, 11, 80543–80572. https://doi.org/10.1109/ACCESS.2023.3300658</a:t>
            </a:r>
            <a:endParaRPr sz="1200"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[3] Meuser, T., Loven, L., Bhuyan, M., Patil, S. G., Dustdar, S., et al. (2024). Revisiting Edge AI: Opportunities and challenges. IEEE Internet Computing, 28(4), 49–59. https://doi.org/10.1109/MIC.2024.3383758</a:t>
            </a:r>
            <a:endParaRPr sz="1200"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[4] Iodice, G. M., &amp; Furtner, W. (2025). Edge AI—An industry view. IEEE Design &amp; Test. https://doi.org/10.1109/MDAT.2025.3576338</a:t>
            </a:r>
            <a:endParaRPr sz="1200"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[5] Ullah, S., Wu, J., Kamal, M. M., Alzaylaee, M. K., &amp; Alibakhshikenari, M. (2026). Spectre-Fed: Evolving federated edge intelligence from FedEdge-ID to robust-private IoT intrusion detection via hybrid adversarial training. IEEE Open Journal of the Communications Society. https://doi.org/10.1109/OJCOMS.2026.3665325</a:t>
            </a:r>
            <a:endParaRPr sz="1200"/>
          </a:p>
        </p:txBody>
      </p:sp>
      <p:sp>
        <p:nvSpPr>
          <p:cNvPr id="528" name="Google Shape;528;p27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8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Thank You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BCD4"/>
                </a:solidFill>
                <a:latin typeface="Arial"/>
                <a:ea typeface="Arial"/>
                <a:cs typeface="Arial"/>
                <a:sym typeface="Arial"/>
              </a:rPr>
              <a:t>Edge Intelligence: AI Without the Cloud</a:t>
            </a:r>
            <a:endParaRPr/>
          </a:p>
        </p:txBody>
      </p:sp>
      <p:sp>
        <p:nvSpPr>
          <p:cNvPr id="535" name="Google Shape;535;p28"/>
          <p:cNvSpPr txBox="1"/>
          <p:nvPr/>
        </p:nvSpPr>
        <p:spPr>
          <a:xfrm>
            <a:off x="777240" y="3794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Questions &amp; Discussion</a:t>
            </a:r>
            <a:endParaRPr/>
          </a:p>
        </p:txBody>
      </p:sp>
      <p:sp>
        <p:nvSpPr>
          <p:cNvPr id="536" name="Google Shape;536;p28"/>
          <p:cNvSpPr txBox="1"/>
          <p:nvPr/>
        </p:nvSpPr>
        <p:spPr>
          <a:xfrm>
            <a:off x="10927080" y="647395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